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Roboto"/>
      <p:regular r:id="rId30"/>
      <p:bold r:id="rId31"/>
      <p:italic r:id="rId32"/>
      <p:boldItalic r:id="rId33"/>
    </p:embeddedFont>
    <p:embeddedFont>
      <p:font typeface="Montserrat"/>
      <p:regular r:id="rId34"/>
      <p:bold r:id="rId35"/>
      <p:italic r:id="rId36"/>
      <p:boldItalic r:id="rId37"/>
    </p:embeddedFont>
    <p:embeddedFont>
      <p:font typeface="Lato"/>
      <p:regular r:id="rId38"/>
      <p:bold r:id="rId39"/>
      <p:italic r:id="rId40"/>
      <p:boldItalic r:id="rId41"/>
    </p:embeddedFont>
    <p:embeddedFont>
      <p:font typeface="Roboto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DD72ED-2B98-4A2E-A949-D5E021DEC3AC}">
  <a:tblStyle styleId="{46DD72ED-2B98-4A2E-A949-D5E021DEC3A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4.xml"/><Relationship Id="rId42" Type="http://schemas.openxmlformats.org/officeDocument/2006/relationships/font" Target="fonts/RobotoMono-regular.fntdata"/><Relationship Id="rId41" Type="http://schemas.openxmlformats.org/officeDocument/2006/relationships/font" Target="fonts/Lato-boldItalic.fntdata"/><Relationship Id="rId22" Type="http://schemas.openxmlformats.org/officeDocument/2006/relationships/slide" Target="slides/slide16.xml"/><Relationship Id="rId44" Type="http://schemas.openxmlformats.org/officeDocument/2006/relationships/font" Target="fonts/RobotoMono-italic.fntdata"/><Relationship Id="rId21" Type="http://schemas.openxmlformats.org/officeDocument/2006/relationships/slide" Target="slides/slide15.xml"/><Relationship Id="rId43" Type="http://schemas.openxmlformats.org/officeDocument/2006/relationships/font" Target="fonts/RobotoMono-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35" Type="http://schemas.openxmlformats.org/officeDocument/2006/relationships/font" Target="fonts/Montserrat-bold.fntdata"/><Relationship Id="rId12" Type="http://schemas.openxmlformats.org/officeDocument/2006/relationships/slide" Target="slides/slide6.xml"/><Relationship Id="rId34" Type="http://schemas.openxmlformats.org/officeDocument/2006/relationships/font" Target="fonts/Montserrat-regular.fntdata"/><Relationship Id="rId15" Type="http://schemas.openxmlformats.org/officeDocument/2006/relationships/slide" Target="slides/slide9.xml"/><Relationship Id="rId37" Type="http://schemas.openxmlformats.org/officeDocument/2006/relationships/font" Target="fonts/Montserrat-boldItalic.fntdata"/><Relationship Id="rId14" Type="http://schemas.openxmlformats.org/officeDocument/2006/relationships/slide" Target="slides/slide8.xml"/><Relationship Id="rId36" Type="http://schemas.openxmlformats.org/officeDocument/2006/relationships/font" Target="fonts/Montserrat-italic.fntdata"/><Relationship Id="rId17" Type="http://schemas.openxmlformats.org/officeDocument/2006/relationships/slide" Target="slides/slide11.xml"/><Relationship Id="rId39" Type="http://schemas.openxmlformats.org/officeDocument/2006/relationships/font" Target="fonts/Lato-bold.fntdata"/><Relationship Id="rId16" Type="http://schemas.openxmlformats.org/officeDocument/2006/relationships/slide" Target="slides/slide10.xml"/><Relationship Id="rId38" Type="http://schemas.openxmlformats.org/officeDocument/2006/relationships/font" Target="fonts/Lat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90f2e4bf5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90f2e4bf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90f2e4bf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90f2e4bf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90f2e4bf5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90f2e4bf5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90f2e4bf5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90f2e4bf5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90f2e4bf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90f2e4bf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90f2e4bf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90f2e4bf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90f2e4bf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90f2e4bf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90f2e4bf5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90f2e4bf5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90f2e4bf5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90f2e4bf5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90f2e4bf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90f2e4bf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90f2e4bf5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90f2e4bf5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90f2e4bf5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90f2e4bf5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Alpha is high so the more recent values are more important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Interpretation:</a:t>
            </a:r>
            <a:r>
              <a:rPr lang="en">
                <a:solidFill>
                  <a:schemeClr val="dk1"/>
                </a:solidFill>
              </a:rPr>
              <a:t> If your Sigma is roughly </a:t>
            </a:r>
            <a:r>
              <a:rPr b="1" lang="en">
                <a:solidFill>
                  <a:schemeClr val="dk1"/>
                </a:solidFill>
              </a:rPr>
              <a:t>2.5</a:t>
            </a:r>
            <a:r>
              <a:rPr lang="en">
                <a:solidFill>
                  <a:schemeClr val="dk1"/>
                </a:solidFill>
              </a:rPr>
              <a:t>, it means that on any given month, the actual temperature typically deviates from your forecast by about 2.5 degrees Fahrenheit. A lower Sigma means a more precise model.</a:t>
            </a:r>
            <a:r>
              <a:rPr lang="en"/>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90f2e4bf5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90f2e4bf5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Alpha is high so the more recent values are more important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solidFill>
                  <a:schemeClr val="dk1"/>
                </a:solidFill>
              </a:rPr>
              <a:t>Interpretation:</a:t>
            </a:r>
            <a:r>
              <a:rPr lang="en">
                <a:solidFill>
                  <a:schemeClr val="dk1"/>
                </a:solidFill>
              </a:rPr>
              <a:t> If your Sigma is roughly </a:t>
            </a:r>
            <a:r>
              <a:rPr b="1" lang="en">
                <a:solidFill>
                  <a:schemeClr val="dk1"/>
                </a:solidFill>
              </a:rPr>
              <a:t>2.5</a:t>
            </a:r>
            <a:r>
              <a:rPr lang="en">
                <a:solidFill>
                  <a:schemeClr val="dk1"/>
                </a:solidFill>
              </a:rPr>
              <a:t>, it means that on any given month, the actual temperature typically deviates from your forecast by about 2.5 degrees Fahrenheit. A lower Sigma means a more precise model.</a:t>
            </a:r>
            <a:r>
              <a:rPr lang="en"/>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a90f2e4bf5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a90f2e4bf5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b="1" lang="en" sz="1200">
                <a:solidFill>
                  <a:schemeClr val="dk1"/>
                </a:solidFill>
                <a:latin typeface="Roboto"/>
                <a:ea typeface="Roboto"/>
                <a:cs typeface="Roboto"/>
                <a:sym typeface="Roboto"/>
              </a:rPr>
              <a:t>We used additive as in our data  the seasonal variations in the time series are roughly constant and do not increase or decrease proportionally with the overall trend</a:t>
            </a:r>
            <a:endParaRPr b="1" sz="1050">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Alpha (α) = 0.3462 (The Level)</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Meaning: Moderate adaptation.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Analysis: The model gives about 35% weight to the most recent observation when updating the "baseline" temperature. It allows the baseline to shift over time (e.g., if a decade is warmer), but it doesn't react violently to a single hot month.</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Beta (β) = 0.0013 (The Trend)</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Meaning: Almost zero (Deterministic Trend).</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Analysis: The model estimates that the </a:t>
            </a:r>
            <a:r>
              <a:rPr b="1" i="1" lang="en">
                <a:solidFill>
                  <a:schemeClr val="dk1"/>
                </a:solidFill>
              </a:rPr>
              <a:t>slope</a:t>
            </a:r>
            <a:r>
              <a:rPr b="1" lang="en">
                <a:solidFill>
                  <a:schemeClr val="dk1"/>
                </a:solidFill>
              </a:rPr>
              <a:t> of the warming trend changes very, very slowly. It isn't assuming the warming accelerates or decelerates rapidly month-to-month. It sees a steady, consistent upward drift.</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Gamma (γ) = 0.0001 (The Seasonality)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Meaning: Effectively zero (Fixed Seasonality).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Analysis: This is perfect for weather data. A gamma near zero means the seasonal shape (the difference between January and July) stays constant over time.</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rPr>
              <a:t>The values under </a:t>
            </a:r>
            <a:r>
              <a:rPr b="1" lang="en" sz="1200">
                <a:solidFill>
                  <a:schemeClr val="dk1"/>
                </a:solidFill>
                <a:latin typeface="Roboto Mono"/>
                <a:ea typeface="Roboto Mono"/>
                <a:cs typeface="Roboto Mono"/>
                <a:sym typeface="Roboto Mono"/>
              </a:rPr>
              <a:t>s</a:t>
            </a:r>
            <a:r>
              <a:rPr b="1" lang="en" sz="1200">
                <a:solidFill>
                  <a:schemeClr val="dk1"/>
                </a:solidFill>
              </a:rPr>
              <a:t> (seasonality) show the additive adjustment for each month relative to the average level.</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rPr>
              <a:t>High: </a:t>
            </a:r>
            <a:r>
              <a:rPr b="1" lang="en" sz="1200">
                <a:solidFill>
                  <a:schemeClr val="dk1"/>
                </a:solidFill>
                <a:latin typeface="Roboto Mono"/>
                <a:ea typeface="Roboto Mono"/>
                <a:cs typeface="Roboto Mono"/>
                <a:sym typeface="Roboto Mono"/>
              </a:rPr>
              <a:t>7.0003</a:t>
            </a:r>
            <a:r>
              <a:rPr b="1" lang="en" sz="1200">
                <a:solidFill>
                  <a:schemeClr val="dk1"/>
                </a:solidFill>
              </a:rPr>
              <a:t> (The peak summer month adds ~7°F to the baseline).</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Low: </a:t>
            </a:r>
            <a:r>
              <a:rPr b="1" lang="en" sz="1200">
                <a:solidFill>
                  <a:schemeClr val="dk1"/>
                </a:solidFill>
                <a:latin typeface="Roboto Mono"/>
                <a:ea typeface="Roboto Mono"/>
                <a:cs typeface="Roboto Mono"/>
                <a:sym typeface="Roboto Mono"/>
              </a:rPr>
              <a:t>-8.2988</a:t>
            </a:r>
            <a:r>
              <a:rPr b="1" lang="en" sz="1200">
                <a:solidFill>
                  <a:schemeClr val="dk1"/>
                </a:solidFill>
              </a:rPr>
              <a:t> (The deep winter month subtracts ~8.3°F from the baseline).</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Range: The swing from winter to summer is roughly 15.3°F.</a:t>
            </a:r>
            <a:endParaRPr b="1" sz="12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4. Error Measures (Accuracy)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These numbers indicate the model is performing exceptionally well on the training data.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Sigma (σ) = 0.462:</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The standard deviation of the errors is roughly 0.46°F. This means that in any given month, the model is usually within half a degree of the actual temperature.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MAPE = 0.547%:</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The Mean Absolute Percentage Error is roughly 0.5%. This is extremely low. A MAPE under 5-10% is usually considered "good"; under 1% is rare and indicates a very strong signal.</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ACF1 = 0.040:</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The autocorrelation of residuals at lag 1 is 0.04 (very close to zero).</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What this means: There is almost no information left in the errors. The model has successfully extracted the Trend and the Seasonality, leaving behind only random noise.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90f2e4bf5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90f2e4bf5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200">
                <a:solidFill>
                  <a:schemeClr val="dk1"/>
                </a:solidFill>
                <a:latin typeface="Roboto"/>
                <a:ea typeface="Roboto"/>
                <a:cs typeface="Roboto"/>
                <a:sym typeface="Roboto"/>
              </a:rPr>
              <a:t>We used additive as in our data  the seasonal variations in the time series are roughly constant and do not increase or decrease proportionally with the overall trend</a:t>
            </a:r>
            <a:endParaRPr b="1" sz="1050">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None/>
            </a:pPr>
            <a:r>
              <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Alpha (α) = 0.3462 (The Level)</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Meaning: Moderate adaptation.</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Analysis: The model gives about 35% weight to the most recent observation when updating the "baseline" temperature. It allows the baseline to shift over time (e.g., if a decade is warmer), but it doesn't react violently to a single hot month.</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Beta (β) = 0.0013 (The Trend)</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Meaning: Almost zero (Deterministic Trend).</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Analysis: The model estimates that the </a:t>
            </a:r>
            <a:r>
              <a:rPr b="1" i="1" lang="en">
                <a:solidFill>
                  <a:schemeClr val="dk1"/>
                </a:solidFill>
              </a:rPr>
              <a:t>slope</a:t>
            </a:r>
            <a:r>
              <a:rPr b="1" lang="en">
                <a:solidFill>
                  <a:schemeClr val="dk1"/>
                </a:solidFill>
              </a:rPr>
              <a:t> of the warming trend changes very, very slowly. It isn't assuming the warming accelerates or decelerates rapidly month-to-month. It sees a steady, consistent upward drift.</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Gamma (γ) = 0.0001 (The Seasonality)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Meaning: Effectively zero (Fixed Seasonality).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Analysis: This is perfect for weather data. A gamma near zero means the seasonal shape (the difference between January and July) stays constant over time.</a:t>
            </a:r>
            <a:endParaRPr b="1" sz="1200">
              <a:solidFill>
                <a:schemeClr val="dk1"/>
              </a:solidFill>
            </a:endParaRPr>
          </a:p>
          <a:p>
            <a:pPr indent="0" lvl="0" marL="0" rtl="0" algn="l">
              <a:lnSpc>
                <a:spcPct val="115000"/>
              </a:lnSpc>
              <a:spcBef>
                <a:spcPts val="1200"/>
              </a:spcBef>
              <a:spcAft>
                <a:spcPts val="0"/>
              </a:spcAft>
              <a:buNone/>
            </a:pPr>
            <a:r>
              <a:rPr b="1" lang="en" sz="1200">
                <a:solidFill>
                  <a:schemeClr val="dk1"/>
                </a:solidFill>
              </a:rPr>
              <a:t>The values under </a:t>
            </a:r>
            <a:r>
              <a:rPr b="1" lang="en" sz="1200">
                <a:solidFill>
                  <a:schemeClr val="dk1"/>
                </a:solidFill>
                <a:latin typeface="Roboto Mono"/>
                <a:ea typeface="Roboto Mono"/>
                <a:cs typeface="Roboto Mono"/>
                <a:sym typeface="Roboto Mono"/>
              </a:rPr>
              <a:t>s</a:t>
            </a:r>
            <a:r>
              <a:rPr b="1" lang="en" sz="1200">
                <a:solidFill>
                  <a:schemeClr val="dk1"/>
                </a:solidFill>
              </a:rPr>
              <a:t> (seasonality) show the additive adjustment for each month relative to the average level.</a:t>
            </a:r>
            <a:endParaRPr b="1"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rPr>
              <a:t>High: </a:t>
            </a:r>
            <a:r>
              <a:rPr b="1" lang="en" sz="1200">
                <a:solidFill>
                  <a:schemeClr val="dk1"/>
                </a:solidFill>
                <a:latin typeface="Roboto Mono"/>
                <a:ea typeface="Roboto Mono"/>
                <a:cs typeface="Roboto Mono"/>
                <a:sym typeface="Roboto Mono"/>
              </a:rPr>
              <a:t>7.0003</a:t>
            </a:r>
            <a:r>
              <a:rPr b="1" lang="en" sz="1200">
                <a:solidFill>
                  <a:schemeClr val="dk1"/>
                </a:solidFill>
              </a:rPr>
              <a:t> (The peak summer month adds ~7°F to the baseline).</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Low: </a:t>
            </a:r>
            <a:r>
              <a:rPr b="1" lang="en" sz="1200">
                <a:solidFill>
                  <a:schemeClr val="dk1"/>
                </a:solidFill>
                <a:latin typeface="Roboto Mono"/>
                <a:ea typeface="Roboto Mono"/>
                <a:cs typeface="Roboto Mono"/>
                <a:sym typeface="Roboto Mono"/>
              </a:rPr>
              <a:t>-8.2988</a:t>
            </a:r>
            <a:r>
              <a:rPr b="1" lang="en" sz="1200">
                <a:solidFill>
                  <a:schemeClr val="dk1"/>
                </a:solidFill>
              </a:rPr>
              <a:t> (The deep winter month subtracts ~8.3°F from the baseline).</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Range: The swing from winter to summer is roughly 15.3°F.</a:t>
            </a:r>
            <a:endParaRPr b="1" sz="1200">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4. Error Measures (Accuracy)</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These numbers indicate the model is performing exceptionally well on the training data.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Sigma (σ) = 0.462:</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The standard deviation of the errors is roughly 0.46°F. This means that in any given month, the model is usually within half a degree of the actual temperature.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MAPE = 0.547%:</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The Mean Absolute Percentage Error is roughly 0.5%. This is extremely low. A MAPE under 5-10% is usually considered "good"; under 1% is rare and indicates a very strong signal.</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ACF1 = 0.040:</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The autocorrelation of residuals at lag 1 is 0.04 (very close to zero).</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What this means: There is almost no information left in the errors. The model has successfully extracted the Trend and the Seasonality, leaving behind only random noise.</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90f2e4bf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a90f2e4bf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1. The Model: </a:t>
            </a:r>
            <a:r>
              <a:rPr b="1" lang="en" sz="1300">
                <a:solidFill>
                  <a:schemeClr val="dk1"/>
                </a:solidFill>
                <a:latin typeface="Roboto Mono"/>
                <a:ea typeface="Roboto Mono"/>
                <a:cs typeface="Roboto Mono"/>
                <a:sym typeface="Roboto Mono"/>
              </a:rPr>
              <a:t>ARIMA(3,0,0)(0,1,2)[12]</a:t>
            </a:r>
            <a:endParaRPr b="1" sz="13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This notation tells us exactly how the model constructs its prediction. It has two parts: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 Non-Seasonal Part: </a:t>
            </a:r>
            <a:r>
              <a:rPr b="1" lang="en">
                <a:solidFill>
                  <a:schemeClr val="dk1"/>
                </a:solidFill>
                <a:latin typeface="Roboto Mono"/>
                <a:ea typeface="Roboto Mono"/>
                <a:cs typeface="Roboto Mono"/>
                <a:sym typeface="Roboto Mono"/>
              </a:rPr>
              <a:t>(3,0,0)</a:t>
            </a:r>
            <a:endParaRPr b="1">
              <a:solidFill>
                <a:schemeClr val="dk1"/>
              </a:solidFill>
              <a:latin typeface="Roboto Mono"/>
              <a:ea typeface="Roboto Mono"/>
              <a:cs typeface="Roboto Mono"/>
              <a:sym typeface="Roboto Mono"/>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 = 3 (AR - AutoRegressive): The model looks at the last 3 months of temperatures to predict the current one. It assumes that if it was hot in March, April, and May, that momentum affects June.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 = 0 (I - Integrated): No "regular" differencing was needed. The model didn't need to subtract today from yesterday to make the data stationary, likely because the </a:t>
            </a:r>
            <a:r>
              <a:rPr b="1" i="1" lang="en">
                <a:solidFill>
                  <a:schemeClr val="dk1"/>
                </a:solidFill>
              </a:rPr>
              <a:t>seasonal</a:t>
            </a:r>
            <a:r>
              <a:rPr b="1" lang="en">
                <a:solidFill>
                  <a:schemeClr val="dk1"/>
                </a:solidFill>
              </a:rPr>
              <a:t> differencing handled the main trends.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 0 (MA - Moving Average): It does not use non-seasonal moving averages (errors from recent months) to correct the forecast.</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B. Seasonal Part: </a:t>
            </a:r>
            <a:r>
              <a:rPr b="1" lang="en">
                <a:solidFill>
                  <a:schemeClr val="dk1"/>
                </a:solidFill>
                <a:latin typeface="Roboto Mono"/>
                <a:ea typeface="Roboto Mono"/>
                <a:cs typeface="Roboto Mono"/>
                <a:sym typeface="Roboto Mono"/>
              </a:rPr>
              <a:t>(0,1,2)[12]</a:t>
            </a:r>
            <a:endParaRPr b="1">
              <a:solidFill>
                <a:schemeClr val="dk1"/>
              </a:solidFill>
              <a:latin typeface="Roboto Mono"/>
              <a:ea typeface="Roboto Mono"/>
              <a:cs typeface="Roboto Mono"/>
              <a:sym typeface="Roboto Mono"/>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 = 0 (Seasonal AR): It doesn't strictly look at the temperature value from 12 months ago as a direct predictor.</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 = 1 (Seasonal Differencing): Crucial. The model subtracts this year's January from last year's January (and so on). This removes the seasonal "wave" and allows the model to focus on the anomalies.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 2 (Seasonal MA): It looks at the errors from 12 months ago and 24 months ago to correct itself. If the model over-predicted last July, it uses that mistake to adjust the forecast for this July.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[12]: The season repeats every 12 periods (monthly).</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2. Coefficients (The "Weights")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ar1 (0.37), ar2 (0.17), ar3 (0.18): These are positive, meaning recent months have a positive correlation with the next month (a warm month tends to follow warm months).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sma1 (-0.94): This is a very strong negative weight on the seasonal error. It effectively says, "If I made a mistake forecasting last year's season, correct it aggressively in the opposite direction."</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spcBef>
                <a:spcPts val="1200"/>
              </a:spcBef>
              <a:spcAft>
                <a:spcPts val="0"/>
              </a:spcAft>
              <a:buNone/>
            </a:pPr>
            <a:r>
              <a:t/>
            </a:r>
            <a:endParaRPr b="1" sz="1200">
              <a:solidFill>
                <a:schemeClr val="dk1"/>
              </a:solidFill>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90f2e4bf5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90f2e4bf5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chemeClr val="dk1"/>
                </a:solidFill>
              </a:rPr>
              <a:t>1. The Model: </a:t>
            </a:r>
            <a:r>
              <a:rPr b="1" lang="en" sz="1300">
                <a:solidFill>
                  <a:schemeClr val="dk1"/>
                </a:solidFill>
                <a:latin typeface="Roboto Mono"/>
                <a:ea typeface="Roboto Mono"/>
                <a:cs typeface="Roboto Mono"/>
                <a:sym typeface="Roboto Mono"/>
              </a:rPr>
              <a:t>ARIMA(3,0,0)(0,1,2)[12]</a:t>
            </a:r>
            <a:endParaRPr b="1" sz="1300">
              <a:solidFill>
                <a:schemeClr val="dk1"/>
              </a:solidFill>
              <a:latin typeface="Roboto Mono"/>
              <a:ea typeface="Roboto Mono"/>
              <a:cs typeface="Roboto Mono"/>
              <a:sym typeface="Roboto Mono"/>
            </a:endParaRPr>
          </a:p>
          <a:p>
            <a:pPr indent="0" lvl="0" marL="0" rtl="0" algn="l">
              <a:lnSpc>
                <a:spcPct val="115000"/>
              </a:lnSpc>
              <a:spcBef>
                <a:spcPts val="1200"/>
              </a:spcBef>
              <a:spcAft>
                <a:spcPts val="0"/>
              </a:spcAft>
              <a:buNone/>
            </a:pPr>
            <a:r>
              <a:rPr b="1" lang="en">
                <a:solidFill>
                  <a:schemeClr val="dk1"/>
                </a:solidFill>
              </a:rPr>
              <a:t>This notation tells us exactly how the model constructs its prediction. It has two parts: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A. Non-Seasonal Part: </a:t>
            </a:r>
            <a:r>
              <a:rPr b="1" lang="en">
                <a:solidFill>
                  <a:schemeClr val="dk1"/>
                </a:solidFill>
                <a:latin typeface="Roboto Mono"/>
                <a:ea typeface="Roboto Mono"/>
                <a:cs typeface="Roboto Mono"/>
                <a:sym typeface="Roboto Mono"/>
              </a:rPr>
              <a:t>(3,0,0)</a:t>
            </a:r>
            <a:endParaRPr b="1">
              <a:solidFill>
                <a:schemeClr val="dk1"/>
              </a:solidFill>
              <a:latin typeface="Roboto Mono"/>
              <a:ea typeface="Roboto Mono"/>
              <a:cs typeface="Roboto Mono"/>
              <a:sym typeface="Roboto Mono"/>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 = 3 (AR - AutoRegressive): The model looks at the last 3 months of temperatures to predict the current one. It assumes that if it was hot in March, April, and May, that momentum affects June.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 = 0 (I - Integrated): No "regular" differencing was needed. The model didn't need to subtract today from yesterday to make the data stationary, likely because the </a:t>
            </a:r>
            <a:r>
              <a:rPr b="1" i="1" lang="en">
                <a:solidFill>
                  <a:schemeClr val="dk1"/>
                </a:solidFill>
              </a:rPr>
              <a:t>seasonal</a:t>
            </a:r>
            <a:r>
              <a:rPr b="1" lang="en">
                <a:solidFill>
                  <a:schemeClr val="dk1"/>
                </a:solidFill>
              </a:rPr>
              <a:t> differencing handled the main trends.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 0 (MA - Moving Average): It does not use non-seasonal moving averages (errors from recent months) to correct the forecast.</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B. Seasonal Part: </a:t>
            </a:r>
            <a:r>
              <a:rPr b="1" lang="en">
                <a:solidFill>
                  <a:schemeClr val="dk1"/>
                </a:solidFill>
                <a:latin typeface="Roboto Mono"/>
                <a:ea typeface="Roboto Mono"/>
                <a:cs typeface="Roboto Mono"/>
                <a:sym typeface="Roboto Mono"/>
              </a:rPr>
              <a:t>(0,1,2)[12]</a:t>
            </a:r>
            <a:endParaRPr b="1">
              <a:solidFill>
                <a:schemeClr val="dk1"/>
              </a:solidFill>
              <a:latin typeface="Roboto Mono"/>
              <a:ea typeface="Roboto Mono"/>
              <a:cs typeface="Roboto Mono"/>
              <a:sym typeface="Roboto Mono"/>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 = 0 (Seasonal AR): It doesn't strictly look at the temperature value from 12 months ago as a direct predictor.</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 = 1 (Seasonal Differencing): Crucial. The model subtracts this year's January from last year's January (and so on). This removes the seasonal "wave" and allows the model to focus on the anomalies.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Q = 2 (Seasonal MA): It looks at the errors from 12 months ago and 24 months ago to correct itself. If the model over-predicted last July, it uses that mistake to adjust the forecast for this July.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[12]: The season repeats every 12 periods (monthly).</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400"/>
              </a:spcBef>
              <a:spcAft>
                <a:spcPts val="0"/>
              </a:spcAft>
              <a:buNone/>
            </a:pPr>
            <a:r>
              <a:rPr b="1" lang="en" sz="1300">
                <a:solidFill>
                  <a:schemeClr val="dk1"/>
                </a:solidFill>
              </a:rPr>
              <a:t>2. Coefficients (The "Weights")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ar1 (0.37), ar2 (0.17), ar3 (0.18): These are positive, meaning recent months have a positive correlation with the next month (a warm month tends to follow warm months).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sma1 (-0.94): This is a very strong negative weight on the seasonal error. It effectively says, "If I made a mistake forecasting last year's season, correct it aggressively in the opposite direction."</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spcBef>
                <a:spcPts val="1200"/>
              </a:spcBef>
              <a:spcAft>
                <a:spcPts val="0"/>
              </a:spcAft>
              <a:buNone/>
            </a:pPr>
            <a:r>
              <a:t/>
            </a:r>
            <a:endParaRPr b="1" sz="1200">
              <a:solidFill>
                <a:schemeClr val="dk1"/>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90f2e4bf5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90f2e4bf5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90f2e4bf5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a90f2e4bf5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90f2e4bf5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90f2e4bf5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90f2e4bf5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a90f2e4bf5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90f2e4bf5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a90f2e4bf5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kaggle.com/datasets/berkeleyearth/climate-change-earth-surface-temperature-data/data?select=GlobalTemperatures.csv"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15.png"/><Relationship Id="rId8"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5.png"/><Relationship Id="rId5" Type="http://schemas.openxmlformats.org/officeDocument/2006/relationships/image" Target="../media/image32.png"/><Relationship Id="rId6"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41.png"/><Relationship Id="rId5" Type="http://schemas.openxmlformats.org/officeDocument/2006/relationships/image" Target="../media/image34.png"/><Relationship Id="rId6"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7.png"/><Relationship Id="rId6"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5.png"/><Relationship Id="rId4" Type="http://schemas.openxmlformats.org/officeDocument/2006/relationships/image" Target="../media/image39.png"/><Relationship Id="rId5" Type="http://schemas.openxmlformats.org/officeDocument/2006/relationships/image" Target="../media/image36.png"/><Relationship Id="rId6"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46.png"/><Relationship Id="rId5"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Forecasting Project </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Aryan Patel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Data </a:t>
            </a:r>
            <a:endParaRPr/>
          </a:p>
        </p:txBody>
      </p:sp>
      <p:sp>
        <p:nvSpPr>
          <p:cNvPr id="141" name="Google Shape;141;p14"/>
          <p:cNvSpPr txBox="1"/>
          <p:nvPr>
            <p:ph idx="1" type="body"/>
          </p:nvPr>
        </p:nvSpPr>
        <p:spPr>
          <a:xfrm>
            <a:off x="1297500" y="813000"/>
            <a:ext cx="7038900" cy="38667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The original data is from this kaggle website : </a:t>
            </a:r>
            <a:r>
              <a:rPr lang="en" sz="1100" u="sng">
                <a:solidFill>
                  <a:schemeClr val="hlink"/>
                </a:solidFill>
                <a:latin typeface="Arial"/>
                <a:ea typeface="Arial"/>
                <a:cs typeface="Arial"/>
                <a:sym typeface="Arial"/>
                <a:hlinkClick r:id="rId3"/>
              </a:rPr>
              <a:t>https://www.kaggle.com/datasets/berkeleyearth/climate-change-earth-surface-temperature-data/data?select=GlobalTemperatures.csv</a:t>
            </a:r>
            <a:endParaRPr/>
          </a:p>
          <a:p>
            <a:pPr indent="-311150" lvl="0" marL="457200" rtl="0" algn="l">
              <a:spcBef>
                <a:spcPts val="0"/>
              </a:spcBef>
              <a:spcAft>
                <a:spcPts val="0"/>
              </a:spcAft>
              <a:buSzPts val="1300"/>
              <a:buChar char="-"/>
            </a:pPr>
            <a:r>
              <a:rPr lang="en"/>
              <a:t>The original data contains average monthly temperature data for 243 </a:t>
            </a:r>
            <a:r>
              <a:rPr lang="en"/>
              <a:t>countries</a:t>
            </a:r>
            <a:r>
              <a:rPr lang="en"/>
              <a:t> from 1743 to 2013 . </a:t>
            </a:r>
            <a:endParaRPr/>
          </a:p>
          <a:p>
            <a:pPr indent="-311150" lvl="0" marL="457200" rtl="0" algn="l">
              <a:spcBef>
                <a:spcPts val="0"/>
              </a:spcBef>
              <a:spcAft>
                <a:spcPts val="0"/>
              </a:spcAft>
              <a:buSzPts val="1300"/>
              <a:buChar char="-"/>
            </a:pPr>
            <a:r>
              <a:rPr lang="en"/>
              <a:t>Three most cited land and ocean temperature data sets are NOAA’s MLOST, NASA’s GISTEMP and the UK’s HadCrut. The authors have repackaged the data from a newer compilation put together by the Berkeley Earth, which is affiliated with Lawrence Berkeley National Laboratory. </a:t>
            </a:r>
            <a:endParaRPr/>
          </a:p>
          <a:p>
            <a:pPr indent="-311150" lvl="0" marL="457200" rtl="0" algn="l">
              <a:spcBef>
                <a:spcPts val="0"/>
              </a:spcBef>
              <a:spcAft>
                <a:spcPts val="0"/>
              </a:spcAft>
              <a:buSzPts val="1300"/>
              <a:buChar char="-"/>
            </a:pPr>
            <a:r>
              <a:rPr lang="en"/>
              <a:t>The Berkeley Earth Surface Temperature Study combines 1.6 billion temperature reports from 16 pre-existing archives.</a:t>
            </a:r>
            <a:endParaRPr sz="900">
              <a:solidFill>
                <a:srgbClr val="F0F6FC"/>
              </a:solidFill>
              <a:latin typeface="Arial"/>
              <a:ea typeface="Arial"/>
              <a:cs typeface="Arial"/>
              <a:sym typeface="Arial"/>
            </a:endParaRPr>
          </a:p>
          <a:p>
            <a:pPr indent="-311150" lvl="0" marL="457200" rtl="0" algn="l">
              <a:spcBef>
                <a:spcPts val="0"/>
              </a:spcBef>
              <a:spcAft>
                <a:spcPts val="0"/>
              </a:spcAft>
              <a:buSzPts val="1300"/>
              <a:buChar char="-"/>
            </a:pPr>
            <a:r>
              <a:rPr lang="en"/>
              <a:t>We can be confident that the recorded data is accurate , especially if we filter for more recent years as the technology to record temperature more accurately has improved with time. </a:t>
            </a:r>
            <a:endParaRPr/>
          </a:p>
          <a:p>
            <a:pPr indent="-311150" lvl="0" marL="457200" rtl="0" algn="l">
              <a:spcBef>
                <a:spcPts val="0"/>
              </a:spcBef>
              <a:spcAft>
                <a:spcPts val="0"/>
              </a:spcAft>
              <a:buSzPts val="1300"/>
              <a:buChar char="-"/>
            </a:pPr>
            <a:r>
              <a:rPr lang="en"/>
              <a:t>I am interested in predicting the global average temperature , so I grouped by country and and took the average to get monthly global average temperatures. </a:t>
            </a:r>
            <a:endParaRPr/>
          </a:p>
          <a:p>
            <a:pPr indent="-311150" lvl="0" marL="457200" rtl="0" algn="l">
              <a:spcBef>
                <a:spcPts val="0"/>
              </a:spcBef>
              <a:spcAft>
                <a:spcPts val="0"/>
              </a:spcAft>
              <a:buSzPts val="1300"/>
              <a:buChar char="-"/>
            </a:pPr>
            <a:r>
              <a:rPr lang="en"/>
              <a:t>In order to be more </a:t>
            </a:r>
            <a:r>
              <a:rPr lang="en"/>
              <a:t>confident</a:t>
            </a:r>
            <a:r>
              <a:rPr lang="en"/>
              <a:t> that the recorded data is the true temperature , filtered original dataset for 1900 and on .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Problem </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Global temperatures are rising which can have many negative consequences such as rising sea levels , more extreme weather , effects on agriculture and water , as well as causing economic damage . </a:t>
            </a:r>
            <a:endParaRPr/>
          </a:p>
          <a:p>
            <a:pPr indent="-311150" lvl="0" marL="457200" rtl="0" algn="l">
              <a:spcBef>
                <a:spcPts val="0"/>
              </a:spcBef>
              <a:spcAft>
                <a:spcPts val="0"/>
              </a:spcAft>
              <a:buSzPts val="1300"/>
              <a:buChar char="-"/>
            </a:pPr>
            <a:r>
              <a:rPr lang="en"/>
              <a:t>Being able to accurately forecast the global monthly average temperature is important to be best </a:t>
            </a:r>
            <a:r>
              <a:rPr lang="en"/>
              <a:t>prepared for the impact of global warming. </a:t>
            </a:r>
            <a:endParaRPr/>
          </a:p>
          <a:p>
            <a:pPr indent="-311150" lvl="0" marL="457200" rtl="0" algn="l">
              <a:spcBef>
                <a:spcPts val="0"/>
              </a:spcBef>
              <a:spcAft>
                <a:spcPts val="0"/>
              </a:spcAft>
              <a:buSzPts val="1300"/>
              <a:buChar char="-"/>
            </a:pPr>
            <a:r>
              <a:rPr lang="en"/>
              <a:t>The goal of this project is to be able to find a time series model that is robust and generalizes well so that we are able to accurately forecast the monthly global average temperatures well into the future, </a:t>
            </a:r>
            <a:r>
              <a:rPr lang="en"/>
              <a:t> so that we can be </a:t>
            </a:r>
            <a:r>
              <a:rPr lang="en"/>
              <a:t>prepared</a:t>
            </a:r>
            <a:r>
              <a:rPr lang="en"/>
              <a:t> for global temperatures rising and know when we will have to take action.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052550" y="622175"/>
            <a:ext cx="27756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Preparation </a:t>
            </a:r>
            <a:endParaRPr/>
          </a:p>
        </p:txBody>
      </p:sp>
      <p:sp>
        <p:nvSpPr>
          <p:cNvPr id="153" name="Google Shape;153;p16"/>
          <p:cNvSpPr txBox="1"/>
          <p:nvPr>
            <p:ph idx="1" type="body"/>
          </p:nvPr>
        </p:nvSpPr>
        <p:spPr>
          <a:xfrm>
            <a:off x="0" y="1502200"/>
            <a:ext cx="4118700" cy="31428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 As older methods of collecting temperature may not be as reliable , we will filter the data for 1900 and onward. </a:t>
            </a:r>
            <a:endParaRPr/>
          </a:p>
          <a:p>
            <a:pPr indent="-311150" lvl="0" marL="457200" rtl="0" algn="l">
              <a:spcBef>
                <a:spcPts val="0"/>
              </a:spcBef>
              <a:spcAft>
                <a:spcPts val="0"/>
              </a:spcAft>
              <a:buSzPts val="1300"/>
              <a:buChar char="-"/>
            </a:pPr>
            <a:r>
              <a:rPr lang="en"/>
              <a:t>The original data provides temperature in </a:t>
            </a:r>
            <a:r>
              <a:rPr lang="en"/>
              <a:t>celsius</a:t>
            </a:r>
            <a:r>
              <a:rPr lang="en"/>
              <a:t> , as we are more accustomed to </a:t>
            </a:r>
            <a:r>
              <a:rPr lang="en"/>
              <a:t>fahrenheit</a:t>
            </a:r>
            <a:r>
              <a:rPr lang="en"/>
              <a:t> we will convert the temperature to fahrenheit. </a:t>
            </a:r>
            <a:endParaRPr/>
          </a:p>
          <a:p>
            <a:pPr indent="-311150" lvl="0" marL="457200" rtl="0" algn="l">
              <a:spcBef>
                <a:spcPts val="0"/>
              </a:spcBef>
              <a:spcAft>
                <a:spcPts val="0"/>
              </a:spcAft>
              <a:buSzPts val="1300"/>
              <a:buChar char="-"/>
            </a:pPr>
            <a:r>
              <a:rPr lang="en"/>
              <a:t>Convert Temperature as time series object </a:t>
            </a:r>
            <a:endParaRPr/>
          </a:p>
        </p:txBody>
      </p:sp>
      <p:pic>
        <p:nvPicPr>
          <p:cNvPr id="154" name="Google Shape;154;p16"/>
          <p:cNvPicPr preferRelativeResize="0"/>
          <p:nvPr/>
        </p:nvPicPr>
        <p:blipFill>
          <a:blip r:embed="rId3">
            <a:alphaModFix/>
          </a:blip>
          <a:stretch>
            <a:fillRect/>
          </a:stretch>
        </p:blipFill>
        <p:spPr>
          <a:xfrm>
            <a:off x="4005550" y="0"/>
            <a:ext cx="5138449" cy="3170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944450" y="172225"/>
            <a:ext cx="2143200" cy="55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r>
              <a:rPr lang="en"/>
              <a:t> </a:t>
            </a:r>
            <a:endParaRPr/>
          </a:p>
        </p:txBody>
      </p:sp>
      <p:sp>
        <p:nvSpPr>
          <p:cNvPr id="160" name="Google Shape;160;p17"/>
          <p:cNvSpPr txBox="1"/>
          <p:nvPr>
            <p:ph idx="1" type="body"/>
          </p:nvPr>
        </p:nvSpPr>
        <p:spPr>
          <a:xfrm>
            <a:off x="51425" y="1346025"/>
            <a:ext cx="4947000" cy="3762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-First step after our data cleaning and preparation is , splitting our data into test and train . As we want our model to be robust and generalize well to the future , we will hold out the last 12 months of data from our time series as test and the rest will be used for actually training and fitting the time series model on our data . This will give us an unbiased and and clearer view of how the model is performing to data it has not seen before in training . </a:t>
            </a:r>
            <a:endParaRPr/>
          </a:p>
          <a:p>
            <a:pPr indent="0" lvl="0" marL="0" rtl="0" algn="l">
              <a:spcBef>
                <a:spcPts val="1200"/>
              </a:spcBef>
              <a:spcAft>
                <a:spcPts val="0"/>
              </a:spcAft>
              <a:buNone/>
            </a:pPr>
            <a:r>
              <a:rPr lang="en"/>
              <a:t>- We can see there is a big spike in global monthly average temperature in the last few months . The model that is able to most closely predict this spike without actually seeing the data is the one that will generalize well for future predictions. </a:t>
            </a:r>
            <a:endParaRPr/>
          </a:p>
          <a:p>
            <a:pPr indent="0" lvl="0" marL="0" rtl="0" algn="l">
              <a:spcBef>
                <a:spcPts val="1200"/>
              </a:spcBef>
              <a:spcAft>
                <a:spcPts val="1200"/>
              </a:spcAft>
              <a:buNone/>
            </a:pPr>
            <a:r>
              <a:rPr lang="en"/>
              <a:t>- As with most models as we increase the parameters and complexity we can make the model almost perfectly predict and fit the training data (high variance low bias) . But the key will be to get a model to predict well on unseen data that is stable and generalizes well . </a:t>
            </a:r>
            <a:endParaRPr/>
          </a:p>
        </p:txBody>
      </p:sp>
      <p:pic>
        <p:nvPicPr>
          <p:cNvPr id="161" name="Google Shape;161;p17"/>
          <p:cNvPicPr preferRelativeResize="0"/>
          <p:nvPr/>
        </p:nvPicPr>
        <p:blipFill>
          <a:blip r:embed="rId3">
            <a:alphaModFix/>
          </a:blip>
          <a:stretch>
            <a:fillRect/>
          </a:stretch>
        </p:blipFill>
        <p:spPr>
          <a:xfrm>
            <a:off x="4998326" y="0"/>
            <a:ext cx="4145673" cy="31018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944450" y="172225"/>
            <a:ext cx="2143200" cy="55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 PT 2  </a:t>
            </a:r>
            <a:endParaRPr/>
          </a:p>
        </p:txBody>
      </p:sp>
      <p:sp>
        <p:nvSpPr>
          <p:cNvPr id="167" name="Google Shape;167;p18"/>
          <p:cNvSpPr txBox="1"/>
          <p:nvPr>
            <p:ph idx="1" type="body"/>
          </p:nvPr>
        </p:nvSpPr>
        <p:spPr>
          <a:xfrm>
            <a:off x="51425" y="1346025"/>
            <a:ext cx="4947000" cy="3762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For Time Series Models that we will be using : 1.Naive , 2.Simple Moving Average (3)  , 3.Simple Exponential Smoothing , 4.Holt Winters , 5.ARIMA / SARIMA </a:t>
            </a:r>
            <a:endParaRPr/>
          </a:p>
          <a:p>
            <a:pPr indent="-311150" lvl="0" marL="457200" rtl="0" algn="l">
              <a:spcBef>
                <a:spcPts val="0"/>
              </a:spcBef>
              <a:spcAft>
                <a:spcPts val="0"/>
              </a:spcAft>
              <a:buSzPts val="1300"/>
              <a:buChar char="-"/>
            </a:pPr>
            <a:r>
              <a:rPr lang="en"/>
              <a:t>Each model will be fit on the same training data , and then we will use the model fit on the training data and evaluate on the test set and then calculate metrics on the test set to see its true performance . </a:t>
            </a:r>
            <a:endParaRPr/>
          </a:p>
          <a:p>
            <a:pPr indent="-311150" lvl="0" marL="457200" rtl="0" algn="l">
              <a:spcBef>
                <a:spcPts val="0"/>
              </a:spcBef>
              <a:spcAft>
                <a:spcPts val="0"/>
              </a:spcAft>
              <a:buSzPts val="1300"/>
              <a:buChar char="-"/>
            </a:pPr>
            <a:r>
              <a:rPr lang="en"/>
              <a:t>I will use MAE (Mean Absolute Error) and RMSE (Root mean squared error) . MAE is is easy to understand and lets us know on average how off is our prediction from the true value and is robust to outliers . RMSE penalizes large errors so especially as our holdout set the last of data has a big spike this will let us know if the model struggles with </a:t>
            </a:r>
            <a:r>
              <a:rPr lang="en"/>
              <a:t>extreme</a:t>
            </a:r>
            <a:r>
              <a:rPr lang="en"/>
              <a:t> values and swings. </a:t>
            </a:r>
            <a:endParaRPr/>
          </a:p>
          <a:p>
            <a:pPr indent="0" lvl="0" marL="457200" rtl="0" algn="l">
              <a:spcBef>
                <a:spcPts val="1200"/>
              </a:spcBef>
              <a:spcAft>
                <a:spcPts val="1200"/>
              </a:spcAft>
              <a:buNone/>
            </a:pPr>
            <a:r>
              <a:t/>
            </a:r>
            <a:endParaRPr/>
          </a:p>
        </p:txBody>
      </p:sp>
      <p:pic>
        <p:nvPicPr>
          <p:cNvPr id="168" name="Google Shape;168;p18"/>
          <p:cNvPicPr preferRelativeResize="0"/>
          <p:nvPr/>
        </p:nvPicPr>
        <p:blipFill>
          <a:blip r:embed="rId3">
            <a:alphaModFix/>
          </a:blip>
          <a:stretch>
            <a:fillRect/>
          </a:stretch>
        </p:blipFill>
        <p:spPr>
          <a:xfrm>
            <a:off x="4998326" y="0"/>
            <a:ext cx="4145673" cy="31018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944450" y="172225"/>
            <a:ext cx="2143200" cy="55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 PT 2  </a:t>
            </a:r>
            <a:endParaRPr/>
          </a:p>
        </p:txBody>
      </p:sp>
      <p:sp>
        <p:nvSpPr>
          <p:cNvPr id="174" name="Google Shape;174;p19"/>
          <p:cNvSpPr txBox="1"/>
          <p:nvPr>
            <p:ph idx="1" type="body"/>
          </p:nvPr>
        </p:nvSpPr>
        <p:spPr>
          <a:xfrm>
            <a:off x="51425" y="1346025"/>
            <a:ext cx="4947000" cy="20391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We will also conduct exploratory data analysis to get a better understanding of the data before we start modeling </a:t>
            </a:r>
            <a:endParaRPr/>
          </a:p>
          <a:p>
            <a:pPr indent="-311150" lvl="0" marL="457200" rtl="0" algn="l">
              <a:spcBef>
                <a:spcPts val="0"/>
              </a:spcBef>
              <a:spcAft>
                <a:spcPts val="0"/>
              </a:spcAft>
              <a:buSzPts val="1300"/>
              <a:buChar char="-"/>
            </a:pPr>
            <a:r>
              <a:rPr lang="en"/>
              <a:t>In </a:t>
            </a:r>
            <a:r>
              <a:rPr lang="en"/>
              <a:t>addition</a:t>
            </a:r>
            <a:r>
              <a:rPr lang="en"/>
              <a:t> we also conduct residual analysis for all of the models to ensure that the model captures all of the structure in the data and if the model is actually valid for the data in addition to having the best MAE / RMSE on the test set. </a:t>
            </a:r>
            <a:endParaRPr/>
          </a:p>
          <a:p>
            <a:pPr indent="0" lvl="0" marL="457200" rtl="0" algn="l">
              <a:spcBef>
                <a:spcPts val="1200"/>
              </a:spcBef>
              <a:spcAft>
                <a:spcPts val="1200"/>
              </a:spcAft>
              <a:buNone/>
            </a:pPr>
            <a:r>
              <a:t/>
            </a:r>
            <a:endParaRPr/>
          </a:p>
        </p:txBody>
      </p:sp>
      <p:pic>
        <p:nvPicPr>
          <p:cNvPr id="175" name="Google Shape;175;p19"/>
          <p:cNvPicPr preferRelativeResize="0"/>
          <p:nvPr/>
        </p:nvPicPr>
        <p:blipFill>
          <a:blip r:embed="rId3">
            <a:alphaModFix/>
          </a:blip>
          <a:stretch>
            <a:fillRect/>
          </a:stretch>
        </p:blipFill>
        <p:spPr>
          <a:xfrm>
            <a:off x="4998326" y="0"/>
            <a:ext cx="4145673" cy="31018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Exploration</a:t>
            </a:r>
            <a:endParaRPr/>
          </a:p>
        </p:txBody>
      </p:sp>
      <p:sp>
        <p:nvSpPr>
          <p:cNvPr id="181" name="Google Shape;181;p20"/>
          <p:cNvSpPr txBox="1"/>
          <p:nvPr>
            <p:ph idx="1" type="body"/>
          </p:nvPr>
        </p:nvSpPr>
        <p:spPr>
          <a:xfrm>
            <a:off x="1982850" y="940313"/>
            <a:ext cx="3576000" cy="1104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t>Plotting the monthly temps from 1900-2013 the plot is too crowded mostly we can just the swings due to </a:t>
            </a:r>
            <a:r>
              <a:rPr lang="en"/>
              <a:t>seasonality hard to know what data should be kept and if we should further filter to capture the current trend </a:t>
            </a:r>
            <a:endParaRPr/>
          </a:p>
        </p:txBody>
      </p:sp>
      <p:pic>
        <p:nvPicPr>
          <p:cNvPr id="182" name="Google Shape;182;p20"/>
          <p:cNvPicPr preferRelativeResize="0"/>
          <p:nvPr/>
        </p:nvPicPr>
        <p:blipFill>
          <a:blip r:embed="rId3">
            <a:alphaModFix/>
          </a:blip>
          <a:stretch>
            <a:fillRect/>
          </a:stretch>
        </p:blipFill>
        <p:spPr>
          <a:xfrm>
            <a:off x="5614244" y="413476"/>
            <a:ext cx="3489150" cy="2158276"/>
          </a:xfrm>
          <a:prstGeom prst="rect">
            <a:avLst/>
          </a:prstGeom>
          <a:noFill/>
          <a:ln>
            <a:noFill/>
          </a:ln>
        </p:spPr>
      </p:pic>
      <p:pic>
        <p:nvPicPr>
          <p:cNvPr id="183" name="Google Shape;183;p20"/>
          <p:cNvPicPr preferRelativeResize="0"/>
          <p:nvPr/>
        </p:nvPicPr>
        <p:blipFill>
          <a:blip r:embed="rId4">
            <a:alphaModFix/>
          </a:blip>
          <a:stretch>
            <a:fillRect/>
          </a:stretch>
        </p:blipFill>
        <p:spPr>
          <a:xfrm>
            <a:off x="0" y="2436650"/>
            <a:ext cx="5614251" cy="2706850"/>
          </a:xfrm>
          <a:prstGeom prst="rect">
            <a:avLst/>
          </a:prstGeom>
          <a:noFill/>
          <a:ln>
            <a:noFill/>
          </a:ln>
        </p:spPr>
      </p:pic>
      <p:sp>
        <p:nvSpPr>
          <p:cNvPr id="184" name="Google Shape;184;p20"/>
          <p:cNvSpPr txBox="1"/>
          <p:nvPr>
            <p:ph idx="1" type="body"/>
          </p:nvPr>
        </p:nvSpPr>
        <p:spPr>
          <a:xfrm>
            <a:off x="5614250" y="2691861"/>
            <a:ext cx="3576000" cy="205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Now viewing the yearly temperature plot we can see there is an upward trend starting in 1956 . So we will filter our entire dataset to be 1956 and onward and keep the last year as our hold out / test set .  </a:t>
            </a:r>
            <a:endParaRPr/>
          </a:p>
        </p:txBody>
      </p:sp>
      <p:cxnSp>
        <p:nvCxnSpPr>
          <p:cNvPr id="185" name="Google Shape;185;p20"/>
          <p:cNvCxnSpPr/>
          <p:nvPr/>
        </p:nvCxnSpPr>
        <p:spPr>
          <a:xfrm flipH="1" rot="10800000">
            <a:off x="2910975" y="3632325"/>
            <a:ext cx="2382600" cy="9984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Exploration</a:t>
            </a:r>
            <a:endParaRPr/>
          </a:p>
        </p:txBody>
      </p:sp>
      <p:sp>
        <p:nvSpPr>
          <p:cNvPr id="191" name="Google Shape;191;p21"/>
          <p:cNvSpPr txBox="1"/>
          <p:nvPr>
            <p:ph idx="1" type="body"/>
          </p:nvPr>
        </p:nvSpPr>
        <p:spPr>
          <a:xfrm>
            <a:off x="210650" y="1840288"/>
            <a:ext cx="3576000" cy="2292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From viewing the acf plot we can see </a:t>
            </a:r>
            <a:r>
              <a:rPr lang="en"/>
              <a:t>significant spikes at lag 1 , 2 , 6 ,  12 , 18, 24. Intuitively these spikes make sense as to predict the upcoming months weather the previous 1-2 months will be important . In addition using the same temperature from the same time but last year or two years ago for the same period will be useful. We can also see the half year and 18 month lags are significant but negatively autocorrelated which also makes sense.  </a:t>
            </a:r>
            <a:endParaRPr/>
          </a:p>
        </p:txBody>
      </p:sp>
      <p:pic>
        <p:nvPicPr>
          <p:cNvPr id="192" name="Google Shape;192;p21"/>
          <p:cNvPicPr preferRelativeResize="0"/>
          <p:nvPr/>
        </p:nvPicPr>
        <p:blipFill>
          <a:blip r:embed="rId3">
            <a:alphaModFix/>
          </a:blip>
          <a:stretch>
            <a:fillRect/>
          </a:stretch>
        </p:blipFill>
        <p:spPr>
          <a:xfrm>
            <a:off x="4035975" y="899500"/>
            <a:ext cx="5052550" cy="31164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Exploration</a:t>
            </a:r>
            <a:endParaRPr/>
          </a:p>
        </p:txBody>
      </p:sp>
      <p:sp>
        <p:nvSpPr>
          <p:cNvPr id="198" name="Google Shape;198;p22"/>
          <p:cNvSpPr txBox="1"/>
          <p:nvPr>
            <p:ph idx="1" type="body"/>
          </p:nvPr>
        </p:nvSpPr>
        <p:spPr>
          <a:xfrm>
            <a:off x="210650" y="1840288"/>
            <a:ext cx="3576000" cy="229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From the STL Decomposition of our time series . We can see that there is a strong seasonal component as expected as we have monthly global average temperatures . There is an upward trend also as expected due to climate change , more use of fossil fuels with time , and other reasons .</a:t>
            </a:r>
            <a:endParaRPr/>
          </a:p>
        </p:txBody>
      </p:sp>
      <p:pic>
        <p:nvPicPr>
          <p:cNvPr id="199" name="Google Shape;199;p22"/>
          <p:cNvPicPr preferRelativeResize="0"/>
          <p:nvPr/>
        </p:nvPicPr>
        <p:blipFill>
          <a:blip r:embed="rId3">
            <a:alphaModFix/>
          </a:blip>
          <a:stretch>
            <a:fillRect/>
          </a:stretch>
        </p:blipFill>
        <p:spPr>
          <a:xfrm>
            <a:off x="3855975" y="574175"/>
            <a:ext cx="5052551" cy="31372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176050" y="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Model # 1 Naive</a:t>
            </a:r>
            <a:endParaRPr/>
          </a:p>
        </p:txBody>
      </p:sp>
      <p:pic>
        <p:nvPicPr>
          <p:cNvPr id="205" name="Google Shape;205;p23"/>
          <p:cNvPicPr preferRelativeResize="0"/>
          <p:nvPr/>
        </p:nvPicPr>
        <p:blipFill>
          <a:blip r:embed="rId3">
            <a:alphaModFix/>
          </a:blip>
          <a:stretch>
            <a:fillRect/>
          </a:stretch>
        </p:blipFill>
        <p:spPr>
          <a:xfrm>
            <a:off x="0" y="3738200"/>
            <a:ext cx="4215876" cy="1405300"/>
          </a:xfrm>
          <a:prstGeom prst="rect">
            <a:avLst/>
          </a:prstGeom>
          <a:noFill/>
          <a:ln>
            <a:noFill/>
          </a:ln>
        </p:spPr>
      </p:pic>
      <p:pic>
        <p:nvPicPr>
          <p:cNvPr id="206" name="Google Shape;206;p23"/>
          <p:cNvPicPr preferRelativeResize="0"/>
          <p:nvPr/>
        </p:nvPicPr>
        <p:blipFill>
          <a:blip r:embed="rId4">
            <a:alphaModFix/>
          </a:blip>
          <a:stretch>
            <a:fillRect/>
          </a:stretch>
        </p:blipFill>
        <p:spPr>
          <a:xfrm>
            <a:off x="0" y="519328"/>
            <a:ext cx="3343527" cy="1585150"/>
          </a:xfrm>
          <a:prstGeom prst="rect">
            <a:avLst/>
          </a:prstGeom>
          <a:noFill/>
          <a:ln>
            <a:noFill/>
          </a:ln>
        </p:spPr>
      </p:pic>
      <p:pic>
        <p:nvPicPr>
          <p:cNvPr id="207" name="Google Shape;207;p23"/>
          <p:cNvPicPr preferRelativeResize="0"/>
          <p:nvPr/>
        </p:nvPicPr>
        <p:blipFill>
          <a:blip r:embed="rId5">
            <a:alphaModFix/>
          </a:blip>
          <a:stretch>
            <a:fillRect/>
          </a:stretch>
        </p:blipFill>
        <p:spPr>
          <a:xfrm>
            <a:off x="17200" y="2104475"/>
            <a:ext cx="3309126" cy="1633724"/>
          </a:xfrm>
          <a:prstGeom prst="rect">
            <a:avLst/>
          </a:prstGeom>
          <a:noFill/>
          <a:ln>
            <a:noFill/>
          </a:ln>
        </p:spPr>
      </p:pic>
      <p:pic>
        <p:nvPicPr>
          <p:cNvPr id="208" name="Google Shape;208;p23"/>
          <p:cNvPicPr preferRelativeResize="0"/>
          <p:nvPr/>
        </p:nvPicPr>
        <p:blipFill>
          <a:blip r:embed="rId6">
            <a:alphaModFix/>
          </a:blip>
          <a:stretch>
            <a:fillRect/>
          </a:stretch>
        </p:blipFill>
        <p:spPr>
          <a:xfrm>
            <a:off x="4215875" y="3239775"/>
            <a:ext cx="4928125" cy="1903725"/>
          </a:xfrm>
          <a:prstGeom prst="rect">
            <a:avLst/>
          </a:prstGeom>
          <a:noFill/>
          <a:ln>
            <a:noFill/>
          </a:ln>
        </p:spPr>
      </p:pic>
      <p:pic>
        <p:nvPicPr>
          <p:cNvPr id="209" name="Google Shape;209;p23"/>
          <p:cNvPicPr preferRelativeResize="0"/>
          <p:nvPr/>
        </p:nvPicPr>
        <p:blipFill>
          <a:blip r:embed="rId7">
            <a:alphaModFix/>
          </a:blip>
          <a:stretch>
            <a:fillRect/>
          </a:stretch>
        </p:blipFill>
        <p:spPr>
          <a:xfrm>
            <a:off x="3326325" y="1488850"/>
            <a:ext cx="2447127" cy="1750925"/>
          </a:xfrm>
          <a:prstGeom prst="rect">
            <a:avLst/>
          </a:prstGeom>
          <a:noFill/>
          <a:ln>
            <a:noFill/>
          </a:ln>
        </p:spPr>
      </p:pic>
      <p:pic>
        <p:nvPicPr>
          <p:cNvPr id="210" name="Google Shape;210;p23"/>
          <p:cNvPicPr preferRelativeResize="0"/>
          <p:nvPr/>
        </p:nvPicPr>
        <p:blipFill>
          <a:blip r:embed="rId8">
            <a:alphaModFix/>
          </a:blip>
          <a:stretch>
            <a:fillRect/>
          </a:stretch>
        </p:blipFill>
        <p:spPr>
          <a:xfrm>
            <a:off x="5773450" y="220150"/>
            <a:ext cx="3309124" cy="30196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4"/>
          <p:cNvSpPr txBox="1"/>
          <p:nvPr>
            <p:ph type="title"/>
          </p:nvPr>
        </p:nvSpPr>
        <p:spPr>
          <a:xfrm>
            <a:off x="0" y="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Simple Moving Average (3) </a:t>
            </a:r>
            <a:endParaRPr/>
          </a:p>
        </p:txBody>
      </p:sp>
      <p:pic>
        <p:nvPicPr>
          <p:cNvPr id="216" name="Google Shape;216;p24"/>
          <p:cNvPicPr preferRelativeResize="0"/>
          <p:nvPr/>
        </p:nvPicPr>
        <p:blipFill>
          <a:blip r:embed="rId3">
            <a:alphaModFix/>
          </a:blip>
          <a:stretch>
            <a:fillRect/>
          </a:stretch>
        </p:blipFill>
        <p:spPr>
          <a:xfrm>
            <a:off x="0" y="4098175"/>
            <a:ext cx="5302727" cy="1045325"/>
          </a:xfrm>
          <a:prstGeom prst="rect">
            <a:avLst/>
          </a:prstGeom>
          <a:noFill/>
          <a:ln>
            <a:noFill/>
          </a:ln>
        </p:spPr>
      </p:pic>
      <p:pic>
        <p:nvPicPr>
          <p:cNvPr id="217" name="Google Shape;217;p24"/>
          <p:cNvPicPr preferRelativeResize="0"/>
          <p:nvPr/>
        </p:nvPicPr>
        <p:blipFill>
          <a:blip r:embed="rId4">
            <a:alphaModFix/>
          </a:blip>
          <a:stretch>
            <a:fillRect/>
          </a:stretch>
        </p:blipFill>
        <p:spPr>
          <a:xfrm>
            <a:off x="0" y="449650"/>
            <a:ext cx="3461299" cy="1696500"/>
          </a:xfrm>
          <a:prstGeom prst="rect">
            <a:avLst/>
          </a:prstGeom>
          <a:noFill/>
          <a:ln>
            <a:noFill/>
          </a:ln>
        </p:spPr>
      </p:pic>
      <p:pic>
        <p:nvPicPr>
          <p:cNvPr id="218" name="Google Shape;218;p24"/>
          <p:cNvPicPr preferRelativeResize="0"/>
          <p:nvPr/>
        </p:nvPicPr>
        <p:blipFill>
          <a:blip r:embed="rId5">
            <a:alphaModFix/>
          </a:blip>
          <a:stretch>
            <a:fillRect/>
          </a:stretch>
        </p:blipFill>
        <p:spPr>
          <a:xfrm>
            <a:off x="0" y="2146150"/>
            <a:ext cx="2914424" cy="2014324"/>
          </a:xfrm>
          <a:prstGeom prst="rect">
            <a:avLst/>
          </a:prstGeom>
          <a:noFill/>
          <a:ln>
            <a:noFill/>
          </a:ln>
        </p:spPr>
      </p:pic>
      <p:pic>
        <p:nvPicPr>
          <p:cNvPr id="219" name="Google Shape;219;p24"/>
          <p:cNvPicPr preferRelativeResize="0"/>
          <p:nvPr/>
        </p:nvPicPr>
        <p:blipFill>
          <a:blip r:embed="rId6">
            <a:alphaModFix/>
          </a:blip>
          <a:stretch>
            <a:fillRect/>
          </a:stretch>
        </p:blipFill>
        <p:spPr>
          <a:xfrm>
            <a:off x="5667747" y="3191475"/>
            <a:ext cx="3476253" cy="1952024"/>
          </a:xfrm>
          <a:prstGeom prst="rect">
            <a:avLst/>
          </a:prstGeom>
          <a:noFill/>
          <a:ln>
            <a:noFill/>
          </a:ln>
        </p:spPr>
      </p:pic>
      <p:pic>
        <p:nvPicPr>
          <p:cNvPr id="220" name="Google Shape;220;p24"/>
          <p:cNvPicPr preferRelativeResize="0"/>
          <p:nvPr/>
        </p:nvPicPr>
        <p:blipFill>
          <a:blip r:embed="rId7">
            <a:alphaModFix/>
          </a:blip>
          <a:stretch>
            <a:fillRect/>
          </a:stretch>
        </p:blipFill>
        <p:spPr>
          <a:xfrm>
            <a:off x="2914425" y="2146150"/>
            <a:ext cx="2725976" cy="1952025"/>
          </a:xfrm>
          <a:prstGeom prst="rect">
            <a:avLst/>
          </a:prstGeom>
          <a:noFill/>
          <a:ln>
            <a:noFill/>
          </a:ln>
        </p:spPr>
      </p:pic>
      <p:pic>
        <p:nvPicPr>
          <p:cNvPr id="221" name="Google Shape;221;p24"/>
          <p:cNvPicPr preferRelativeResize="0"/>
          <p:nvPr/>
        </p:nvPicPr>
        <p:blipFill>
          <a:blip r:embed="rId8">
            <a:alphaModFix/>
          </a:blip>
          <a:stretch>
            <a:fillRect/>
          </a:stretch>
        </p:blipFill>
        <p:spPr>
          <a:xfrm>
            <a:off x="4678250" y="0"/>
            <a:ext cx="4465752" cy="21461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5"/>
          <p:cNvSpPr txBox="1"/>
          <p:nvPr>
            <p:ph type="title"/>
          </p:nvPr>
        </p:nvSpPr>
        <p:spPr>
          <a:xfrm>
            <a:off x="0" y="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Simple Exponential Smoothing pt 1 </a:t>
            </a:r>
            <a:endParaRPr/>
          </a:p>
        </p:txBody>
      </p:sp>
      <p:pic>
        <p:nvPicPr>
          <p:cNvPr id="227" name="Google Shape;227;p25"/>
          <p:cNvPicPr preferRelativeResize="0"/>
          <p:nvPr/>
        </p:nvPicPr>
        <p:blipFill>
          <a:blip r:embed="rId3">
            <a:alphaModFix/>
          </a:blip>
          <a:stretch>
            <a:fillRect/>
          </a:stretch>
        </p:blipFill>
        <p:spPr>
          <a:xfrm>
            <a:off x="0" y="2873025"/>
            <a:ext cx="6986076" cy="2270475"/>
          </a:xfrm>
          <a:prstGeom prst="rect">
            <a:avLst/>
          </a:prstGeom>
          <a:noFill/>
          <a:ln>
            <a:noFill/>
          </a:ln>
        </p:spPr>
      </p:pic>
      <p:pic>
        <p:nvPicPr>
          <p:cNvPr id="228" name="Google Shape;228;p25"/>
          <p:cNvPicPr preferRelativeResize="0"/>
          <p:nvPr/>
        </p:nvPicPr>
        <p:blipFill>
          <a:blip r:embed="rId4">
            <a:alphaModFix/>
          </a:blip>
          <a:stretch>
            <a:fillRect/>
          </a:stretch>
        </p:blipFill>
        <p:spPr>
          <a:xfrm>
            <a:off x="3946549" y="442225"/>
            <a:ext cx="5197450" cy="2018762"/>
          </a:xfrm>
          <a:prstGeom prst="rect">
            <a:avLst/>
          </a:prstGeom>
          <a:noFill/>
          <a:ln>
            <a:noFill/>
          </a:ln>
        </p:spPr>
      </p:pic>
      <p:pic>
        <p:nvPicPr>
          <p:cNvPr id="229" name="Google Shape;229;p25"/>
          <p:cNvPicPr preferRelativeResize="0"/>
          <p:nvPr/>
        </p:nvPicPr>
        <p:blipFill>
          <a:blip r:embed="rId5">
            <a:alphaModFix/>
          </a:blip>
          <a:stretch>
            <a:fillRect/>
          </a:stretch>
        </p:blipFill>
        <p:spPr>
          <a:xfrm>
            <a:off x="0" y="442225"/>
            <a:ext cx="3946554" cy="24307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6"/>
          <p:cNvSpPr txBox="1"/>
          <p:nvPr>
            <p:ph type="title"/>
          </p:nvPr>
        </p:nvSpPr>
        <p:spPr>
          <a:xfrm>
            <a:off x="0" y="0"/>
            <a:ext cx="4741800" cy="6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760"/>
              <a:t>Simple Exponential Smoothing pt2</a:t>
            </a:r>
            <a:endParaRPr sz="1760"/>
          </a:p>
        </p:txBody>
      </p:sp>
      <p:pic>
        <p:nvPicPr>
          <p:cNvPr id="235" name="Google Shape;235;p26"/>
          <p:cNvPicPr preferRelativeResize="0"/>
          <p:nvPr/>
        </p:nvPicPr>
        <p:blipFill>
          <a:blip r:embed="rId3">
            <a:alphaModFix/>
          </a:blip>
          <a:stretch>
            <a:fillRect/>
          </a:stretch>
        </p:blipFill>
        <p:spPr>
          <a:xfrm>
            <a:off x="0" y="2893975"/>
            <a:ext cx="3676708" cy="2249526"/>
          </a:xfrm>
          <a:prstGeom prst="rect">
            <a:avLst/>
          </a:prstGeom>
          <a:noFill/>
          <a:ln>
            <a:noFill/>
          </a:ln>
        </p:spPr>
      </p:pic>
      <p:pic>
        <p:nvPicPr>
          <p:cNvPr id="236" name="Google Shape;236;p26"/>
          <p:cNvPicPr preferRelativeResize="0"/>
          <p:nvPr/>
        </p:nvPicPr>
        <p:blipFill>
          <a:blip r:embed="rId4">
            <a:alphaModFix/>
          </a:blip>
          <a:stretch>
            <a:fillRect/>
          </a:stretch>
        </p:blipFill>
        <p:spPr>
          <a:xfrm>
            <a:off x="3676702" y="2759502"/>
            <a:ext cx="3871174" cy="2384001"/>
          </a:xfrm>
          <a:prstGeom prst="rect">
            <a:avLst/>
          </a:prstGeom>
          <a:noFill/>
          <a:ln>
            <a:noFill/>
          </a:ln>
        </p:spPr>
      </p:pic>
      <p:pic>
        <p:nvPicPr>
          <p:cNvPr id="237" name="Google Shape;237;p26"/>
          <p:cNvPicPr preferRelativeResize="0"/>
          <p:nvPr/>
        </p:nvPicPr>
        <p:blipFill>
          <a:blip r:embed="rId5">
            <a:alphaModFix/>
          </a:blip>
          <a:stretch>
            <a:fillRect/>
          </a:stretch>
        </p:blipFill>
        <p:spPr>
          <a:xfrm>
            <a:off x="0" y="584025"/>
            <a:ext cx="3724873" cy="2309951"/>
          </a:xfrm>
          <a:prstGeom prst="rect">
            <a:avLst/>
          </a:prstGeom>
          <a:noFill/>
          <a:ln>
            <a:noFill/>
          </a:ln>
        </p:spPr>
      </p:pic>
      <p:pic>
        <p:nvPicPr>
          <p:cNvPr id="238" name="Google Shape;238;p26"/>
          <p:cNvPicPr preferRelativeResize="0"/>
          <p:nvPr/>
        </p:nvPicPr>
        <p:blipFill>
          <a:blip r:embed="rId6">
            <a:alphaModFix/>
          </a:blip>
          <a:stretch>
            <a:fillRect/>
          </a:stretch>
        </p:blipFill>
        <p:spPr>
          <a:xfrm>
            <a:off x="4073398" y="153825"/>
            <a:ext cx="4267200" cy="26056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7"/>
          <p:cNvSpPr txBox="1"/>
          <p:nvPr>
            <p:ph type="title"/>
          </p:nvPr>
        </p:nvSpPr>
        <p:spPr>
          <a:xfrm>
            <a:off x="0" y="0"/>
            <a:ext cx="4741800" cy="6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760"/>
              <a:t>Holt Winters - Seasonal = </a:t>
            </a:r>
            <a:r>
              <a:rPr lang="en" sz="1760"/>
              <a:t>Additive pt 1 </a:t>
            </a:r>
            <a:r>
              <a:rPr lang="en" sz="1760"/>
              <a:t> </a:t>
            </a:r>
            <a:endParaRPr sz="1760"/>
          </a:p>
        </p:txBody>
      </p:sp>
      <p:pic>
        <p:nvPicPr>
          <p:cNvPr id="244" name="Google Shape;244;p27"/>
          <p:cNvPicPr preferRelativeResize="0"/>
          <p:nvPr/>
        </p:nvPicPr>
        <p:blipFill>
          <a:blip r:embed="rId3">
            <a:alphaModFix/>
          </a:blip>
          <a:stretch>
            <a:fillRect/>
          </a:stretch>
        </p:blipFill>
        <p:spPr>
          <a:xfrm>
            <a:off x="0" y="3525050"/>
            <a:ext cx="8839202" cy="1618445"/>
          </a:xfrm>
          <a:prstGeom prst="rect">
            <a:avLst/>
          </a:prstGeom>
          <a:noFill/>
          <a:ln>
            <a:noFill/>
          </a:ln>
        </p:spPr>
      </p:pic>
      <p:pic>
        <p:nvPicPr>
          <p:cNvPr id="245" name="Google Shape;245;p27"/>
          <p:cNvPicPr preferRelativeResize="0"/>
          <p:nvPr/>
        </p:nvPicPr>
        <p:blipFill>
          <a:blip r:embed="rId4">
            <a:alphaModFix/>
          </a:blip>
          <a:stretch>
            <a:fillRect/>
          </a:stretch>
        </p:blipFill>
        <p:spPr>
          <a:xfrm>
            <a:off x="0" y="959700"/>
            <a:ext cx="4016099" cy="2565349"/>
          </a:xfrm>
          <a:prstGeom prst="rect">
            <a:avLst/>
          </a:prstGeom>
          <a:noFill/>
          <a:ln>
            <a:noFill/>
          </a:ln>
        </p:spPr>
      </p:pic>
      <p:pic>
        <p:nvPicPr>
          <p:cNvPr id="246" name="Google Shape;246;p27"/>
          <p:cNvPicPr preferRelativeResize="0"/>
          <p:nvPr/>
        </p:nvPicPr>
        <p:blipFill>
          <a:blip r:embed="rId5">
            <a:alphaModFix/>
          </a:blip>
          <a:stretch>
            <a:fillRect/>
          </a:stretch>
        </p:blipFill>
        <p:spPr>
          <a:xfrm>
            <a:off x="3865949" y="1051025"/>
            <a:ext cx="4199484" cy="2565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0" y="0"/>
            <a:ext cx="4741800" cy="65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760"/>
              <a:t>Holt Winters - Seasonal = Additive pt 2  </a:t>
            </a:r>
            <a:endParaRPr sz="1760"/>
          </a:p>
        </p:txBody>
      </p:sp>
      <p:pic>
        <p:nvPicPr>
          <p:cNvPr id="252" name="Google Shape;252;p28"/>
          <p:cNvPicPr preferRelativeResize="0"/>
          <p:nvPr/>
        </p:nvPicPr>
        <p:blipFill>
          <a:blip r:embed="rId3">
            <a:alphaModFix/>
          </a:blip>
          <a:stretch>
            <a:fillRect/>
          </a:stretch>
        </p:blipFill>
        <p:spPr>
          <a:xfrm>
            <a:off x="0" y="3336550"/>
            <a:ext cx="4285126" cy="1806950"/>
          </a:xfrm>
          <a:prstGeom prst="rect">
            <a:avLst/>
          </a:prstGeom>
          <a:noFill/>
          <a:ln>
            <a:noFill/>
          </a:ln>
        </p:spPr>
      </p:pic>
      <p:pic>
        <p:nvPicPr>
          <p:cNvPr id="253" name="Google Shape;253;p28"/>
          <p:cNvPicPr preferRelativeResize="0"/>
          <p:nvPr/>
        </p:nvPicPr>
        <p:blipFill>
          <a:blip r:embed="rId4">
            <a:alphaModFix/>
          </a:blip>
          <a:stretch>
            <a:fillRect/>
          </a:stretch>
        </p:blipFill>
        <p:spPr>
          <a:xfrm>
            <a:off x="4285125" y="3054621"/>
            <a:ext cx="4042500" cy="2088879"/>
          </a:xfrm>
          <a:prstGeom prst="rect">
            <a:avLst/>
          </a:prstGeom>
          <a:noFill/>
          <a:ln>
            <a:noFill/>
          </a:ln>
        </p:spPr>
      </p:pic>
      <p:pic>
        <p:nvPicPr>
          <p:cNvPr id="254" name="Google Shape;254;p28"/>
          <p:cNvPicPr preferRelativeResize="0"/>
          <p:nvPr/>
        </p:nvPicPr>
        <p:blipFill>
          <a:blip r:embed="rId5">
            <a:alphaModFix/>
          </a:blip>
          <a:stretch>
            <a:fillRect/>
          </a:stretch>
        </p:blipFill>
        <p:spPr>
          <a:xfrm>
            <a:off x="0" y="851075"/>
            <a:ext cx="3996142" cy="2485475"/>
          </a:xfrm>
          <a:prstGeom prst="rect">
            <a:avLst/>
          </a:prstGeom>
          <a:noFill/>
          <a:ln>
            <a:noFill/>
          </a:ln>
        </p:spPr>
      </p:pic>
      <p:pic>
        <p:nvPicPr>
          <p:cNvPr id="255" name="Google Shape;255;p28"/>
          <p:cNvPicPr preferRelativeResize="0"/>
          <p:nvPr/>
        </p:nvPicPr>
        <p:blipFill>
          <a:blip r:embed="rId6">
            <a:alphaModFix/>
          </a:blip>
          <a:stretch>
            <a:fillRect/>
          </a:stretch>
        </p:blipFill>
        <p:spPr>
          <a:xfrm>
            <a:off x="4285125" y="304800"/>
            <a:ext cx="4472454" cy="2749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0" y="0"/>
            <a:ext cx="5184300" cy="99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60"/>
              <a:t>ARIMA / SARIMA pt 1 </a:t>
            </a:r>
            <a:r>
              <a:rPr lang="en" sz="1760"/>
              <a:t> </a:t>
            </a:r>
            <a:endParaRPr sz="1760"/>
          </a:p>
        </p:txBody>
      </p:sp>
      <p:pic>
        <p:nvPicPr>
          <p:cNvPr id="261" name="Google Shape;261;p29"/>
          <p:cNvPicPr preferRelativeResize="0"/>
          <p:nvPr/>
        </p:nvPicPr>
        <p:blipFill>
          <a:blip r:embed="rId3">
            <a:alphaModFix/>
          </a:blip>
          <a:stretch>
            <a:fillRect/>
          </a:stretch>
        </p:blipFill>
        <p:spPr>
          <a:xfrm>
            <a:off x="0" y="3530225"/>
            <a:ext cx="8839202" cy="1613275"/>
          </a:xfrm>
          <a:prstGeom prst="rect">
            <a:avLst/>
          </a:prstGeom>
          <a:noFill/>
          <a:ln>
            <a:noFill/>
          </a:ln>
        </p:spPr>
      </p:pic>
      <p:pic>
        <p:nvPicPr>
          <p:cNvPr id="262" name="Google Shape;262;p29"/>
          <p:cNvPicPr preferRelativeResize="0"/>
          <p:nvPr/>
        </p:nvPicPr>
        <p:blipFill>
          <a:blip r:embed="rId4">
            <a:alphaModFix/>
          </a:blip>
          <a:stretch>
            <a:fillRect/>
          </a:stretch>
        </p:blipFill>
        <p:spPr>
          <a:xfrm>
            <a:off x="0" y="1226275"/>
            <a:ext cx="5456350" cy="2235425"/>
          </a:xfrm>
          <a:prstGeom prst="rect">
            <a:avLst/>
          </a:prstGeom>
          <a:noFill/>
          <a:ln>
            <a:noFill/>
          </a:ln>
        </p:spPr>
      </p:pic>
      <p:pic>
        <p:nvPicPr>
          <p:cNvPr id="263" name="Google Shape;263;p29"/>
          <p:cNvPicPr preferRelativeResize="0"/>
          <p:nvPr/>
        </p:nvPicPr>
        <p:blipFill>
          <a:blip r:embed="rId5">
            <a:alphaModFix/>
          </a:blip>
          <a:stretch>
            <a:fillRect/>
          </a:stretch>
        </p:blipFill>
        <p:spPr>
          <a:xfrm>
            <a:off x="5525925" y="1416550"/>
            <a:ext cx="3382852" cy="2113672"/>
          </a:xfrm>
          <a:prstGeom prst="rect">
            <a:avLst/>
          </a:prstGeom>
          <a:noFill/>
          <a:ln>
            <a:noFill/>
          </a:ln>
        </p:spPr>
      </p:pic>
      <p:pic>
        <p:nvPicPr>
          <p:cNvPr id="264" name="Google Shape;264;p29"/>
          <p:cNvPicPr preferRelativeResize="0"/>
          <p:nvPr/>
        </p:nvPicPr>
        <p:blipFill>
          <a:blip r:embed="rId6">
            <a:alphaModFix/>
          </a:blip>
          <a:stretch>
            <a:fillRect/>
          </a:stretch>
        </p:blipFill>
        <p:spPr>
          <a:xfrm>
            <a:off x="0" y="912553"/>
            <a:ext cx="9144001" cy="4211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0"/>
          <p:cNvSpPr txBox="1"/>
          <p:nvPr>
            <p:ph type="title"/>
          </p:nvPr>
        </p:nvSpPr>
        <p:spPr>
          <a:xfrm>
            <a:off x="0" y="0"/>
            <a:ext cx="5184300" cy="99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60"/>
              <a:t>ARIMA / SARIMA </a:t>
            </a:r>
            <a:r>
              <a:rPr lang="en" sz="1760"/>
              <a:t> pt 2 </a:t>
            </a:r>
            <a:endParaRPr sz="1760"/>
          </a:p>
        </p:txBody>
      </p:sp>
      <p:pic>
        <p:nvPicPr>
          <p:cNvPr id="270" name="Google Shape;270;p30"/>
          <p:cNvPicPr preferRelativeResize="0"/>
          <p:nvPr/>
        </p:nvPicPr>
        <p:blipFill>
          <a:blip r:embed="rId3">
            <a:alphaModFix/>
          </a:blip>
          <a:stretch>
            <a:fillRect/>
          </a:stretch>
        </p:blipFill>
        <p:spPr>
          <a:xfrm>
            <a:off x="0" y="2807875"/>
            <a:ext cx="4473726" cy="2335626"/>
          </a:xfrm>
          <a:prstGeom prst="rect">
            <a:avLst/>
          </a:prstGeom>
          <a:noFill/>
          <a:ln>
            <a:noFill/>
          </a:ln>
        </p:spPr>
      </p:pic>
      <p:pic>
        <p:nvPicPr>
          <p:cNvPr id="271" name="Google Shape;271;p30"/>
          <p:cNvPicPr preferRelativeResize="0"/>
          <p:nvPr/>
        </p:nvPicPr>
        <p:blipFill>
          <a:blip r:embed="rId4">
            <a:alphaModFix/>
          </a:blip>
          <a:stretch>
            <a:fillRect/>
          </a:stretch>
        </p:blipFill>
        <p:spPr>
          <a:xfrm>
            <a:off x="4473725" y="2782400"/>
            <a:ext cx="4365473" cy="2335626"/>
          </a:xfrm>
          <a:prstGeom prst="rect">
            <a:avLst/>
          </a:prstGeom>
          <a:noFill/>
          <a:ln>
            <a:noFill/>
          </a:ln>
        </p:spPr>
      </p:pic>
      <p:pic>
        <p:nvPicPr>
          <p:cNvPr id="272" name="Google Shape;272;p30"/>
          <p:cNvPicPr preferRelativeResize="0"/>
          <p:nvPr/>
        </p:nvPicPr>
        <p:blipFill>
          <a:blip r:embed="rId5">
            <a:alphaModFix/>
          </a:blip>
          <a:stretch>
            <a:fillRect/>
          </a:stretch>
        </p:blipFill>
        <p:spPr>
          <a:xfrm>
            <a:off x="5333050" y="379625"/>
            <a:ext cx="3810951" cy="2402775"/>
          </a:xfrm>
          <a:prstGeom prst="rect">
            <a:avLst/>
          </a:prstGeom>
          <a:noFill/>
          <a:ln>
            <a:noFill/>
          </a:ln>
        </p:spPr>
      </p:pic>
      <p:pic>
        <p:nvPicPr>
          <p:cNvPr id="273" name="Google Shape;273;p30"/>
          <p:cNvPicPr preferRelativeResize="0"/>
          <p:nvPr/>
        </p:nvPicPr>
        <p:blipFill>
          <a:blip r:embed="rId6">
            <a:alphaModFix/>
          </a:blip>
          <a:stretch>
            <a:fillRect/>
          </a:stretch>
        </p:blipFill>
        <p:spPr>
          <a:xfrm>
            <a:off x="-2" y="370600"/>
            <a:ext cx="5333052" cy="2411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Comparing Results - Performance On Test </a:t>
            </a:r>
            <a:endParaRPr/>
          </a:p>
        </p:txBody>
      </p:sp>
      <p:pic>
        <p:nvPicPr>
          <p:cNvPr id="279" name="Google Shape;279;p31"/>
          <p:cNvPicPr preferRelativeResize="0"/>
          <p:nvPr/>
        </p:nvPicPr>
        <p:blipFill>
          <a:blip r:embed="rId3">
            <a:alphaModFix/>
          </a:blip>
          <a:stretch>
            <a:fillRect/>
          </a:stretch>
        </p:blipFill>
        <p:spPr>
          <a:xfrm>
            <a:off x="0" y="3348850"/>
            <a:ext cx="7532801" cy="1751825"/>
          </a:xfrm>
          <a:prstGeom prst="rect">
            <a:avLst/>
          </a:prstGeom>
          <a:noFill/>
          <a:ln>
            <a:noFill/>
          </a:ln>
        </p:spPr>
      </p:pic>
      <p:pic>
        <p:nvPicPr>
          <p:cNvPr id="280" name="Google Shape;280;p31"/>
          <p:cNvPicPr preferRelativeResize="0"/>
          <p:nvPr/>
        </p:nvPicPr>
        <p:blipFill>
          <a:blip r:embed="rId4">
            <a:alphaModFix/>
          </a:blip>
          <a:stretch>
            <a:fillRect/>
          </a:stretch>
        </p:blipFill>
        <p:spPr>
          <a:xfrm>
            <a:off x="0" y="1103425"/>
            <a:ext cx="3823298" cy="2245425"/>
          </a:xfrm>
          <a:prstGeom prst="rect">
            <a:avLst/>
          </a:prstGeom>
          <a:noFill/>
          <a:ln>
            <a:noFill/>
          </a:ln>
        </p:spPr>
      </p:pic>
      <p:pic>
        <p:nvPicPr>
          <p:cNvPr id="281" name="Google Shape;281;p31"/>
          <p:cNvPicPr preferRelativeResize="0"/>
          <p:nvPr/>
        </p:nvPicPr>
        <p:blipFill>
          <a:blip r:embed="rId5">
            <a:alphaModFix/>
          </a:blip>
          <a:stretch>
            <a:fillRect/>
          </a:stretch>
        </p:blipFill>
        <p:spPr>
          <a:xfrm>
            <a:off x="3823301" y="999000"/>
            <a:ext cx="3709499" cy="2309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Comparing Results - Performance On Test </a:t>
            </a:r>
            <a:endParaRPr/>
          </a:p>
        </p:txBody>
      </p:sp>
      <p:pic>
        <p:nvPicPr>
          <p:cNvPr id="287" name="Google Shape;287;p32"/>
          <p:cNvPicPr preferRelativeResize="0"/>
          <p:nvPr/>
        </p:nvPicPr>
        <p:blipFill>
          <a:blip r:embed="rId3">
            <a:alphaModFix/>
          </a:blip>
          <a:stretch>
            <a:fillRect/>
          </a:stretch>
        </p:blipFill>
        <p:spPr>
          <a:xfrm>
            <a:off x="1215000" y="941625"/>
            <a:ext cx="7300726" cy="2086150"/>
          </a:xfrm>
          <a:prstGeom prst="rect">
            <a:avLst/>
          </a:prstGeom>
          <a:noFill/>
          <a:ln>
            <a:noFill/>
          </a:ln>
        </p:spPr>
      </p:pic>
      <p:graphicFrame>
        <p:nvGraphicFramePr>
          <p:cNvPr id="288" name="Google Shape;288;p32"/>
          <p:cNvGraphicFramePr/>
          <p:nvPr/>
        </p:nvGraphicFramePr>
        <p:xfrm>
          <a:off x="1043625" y="3861375"/>
          <a:ext cx="3000000" cy="3000000"/>
        </p:xfrm>
        <a:graphic>
          <a:graphicData uri="http://schemas.openxmlformats.org/drawingml/2006/table">
            <a:tbl>
              <a:tblPr>
                <a:noFill/>
                <a:tableStyleId>{46DD72ED-2B98-4A2E-A949-D5E021DEC3AC}</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a:solidFill>
                            <a:schemeClr val="lt1"/>
                          </a:solidFill>
                        </a:rPr>
                        <a:t>Naive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SMA</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SES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Holt Winters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ARIMA (AUTO)`</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O(1)</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O(N)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O(NXG)</a:t>
                      </a:r>
                      <a:endParaRPr>
                        <a:solidFill>
                          <a:schemeClr val="lt1"/>
                        </a:solidFill>
                      </a:endParaRPr>
                    </a:p>
                  </a:txBody>
                  <a:tcPr marT="91425" marB="91425" marR="91425" marL="91425"/>
                </a:tc>
              </a:tr>
            </a:tbl>
          </a:graphicData>
        </a:graphic>
      </p:graphicFrame>
      <p:sp>
        <p:nvSpPr>
          <p:cNvPr id="289" name="Google Shape;289;p32"/>
          <p:cNvSpPr txBox="1"/>
          <p:nvPr/>
        </p:nvSpPr>
        <p:spPr>
          <a:xfrm>
            <a:off x="334125" y="3078000"/>
            <a:ext cx="4090500" cy="41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Time Complexity in terms of N = where n is size of dataset </a:t>
            </a:r>
            <a:endParaRPr sz="1300">
              <a:solidFill>
                <a:schemeClr val="lt1"/>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Recommendation - Final Model Selection </a:t>
            </a:r>
            <a:endParaRPr/>
          </a:p>
        </p:txBody>
      </p:sp>
      <p:pic>
        <p:nvPicPr>
          <p:cNvPr id="295" name="Google Shape;295;p33"/>
          <p:cNvPicPr preferRelativeResize="0"/>
          <p:nvPr/>
        </p:nvPicPr>
        <p:blipFill>
          <a:blip r:embed="rId3">
            <a:alphaModFix/>
          </a:blip>
          <a:stretch>
            <a:fillRect/>
          </a:stretch>
        </p:blipFill>
        <p:spPr>
          <a:xfrm>
            <a:off x="0" y="3165853"/>
            <a:ext cx="6775000" cy="1977650"/>
          </a:xfrm>
          <a:prstGeom prst="rect">
            <a:avLst/>
          </a:prstGeom>
          <a:noFill/>
          <a:ln>
            <a:noFill/>
          </a:ln>
        </p:spPr>
      </p:pic>
      <p:sp>
        <p:nvSpPr>
          <p:cNvPr id="296" name="Google Shape;296;p33"/>
          <p:cNvSpPr txBox="1"/>
          <p:nvPr/>
        </p:nvSpPr>
        <p:spPr>
          <a:xfrm>
            <a:off x="853950" y="978850"/>
            <a:ext cx="7436100" cy="21870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Lato"/>
              <a:buChar char="-"/>
            </a:pPr>
            <a:r>
              <a:rPr lang="en" sz="1500">
                <a:solidFill>
                  <a:schemeClr val="lt1"/>
                </a:solidFill>
                <a:latin typeface="Lato"/>
                <a:ea typeface="Lato"/>
                <a:cs typeface="Lato"/>
                <a:sym typeface="Lato"/>
              </a:rPr>
              <a:t>From the comparison view of performance on the test set between all models it is clear that Holt Winters and ARIMA models are performing best</a:t>
            </a:r>
            <a:endParaRPr sz="1500">
              <a:solidFill>
                <a:schemeClr val="lt1"/>
              </a:solidFill>
              <a:latin typeface="Lato"/>
              <a:ea typeface="Lato"/>
              <a:cs typeface="Lato"/>
              <a:sym typeface="Lato"/>
            </a:endParaRPr>
          </a:p>
          <a:p>
            <a:pPr indent="-323850" lvl="0" marL="457200" rtl="0" algn="l">
              <a:spcBef>
                <a:spcPts val="0"/>
              </a:spcBef>
              <a:spcAft>
                <a:spcPts val="0"/>
              </a:spcAft>
              <a:buClr>
                <a:schemeClr val="lt1"/>
              </a:buClr>
              <a:buSzPts val="1500"/>
              <a:buFont typeface="Lato"/>
              <a:buChar char="-"/>
            </a:pPr>
            <a:r>
              <a:rPr lang="en" sz="1500">
                <a:solidFill>
                  <a:schemeClr val="lt1"/>
                </a:solidFill>
                <a:latin typeface="Lato"/>
                <a:ea typeface="Lato"/>
                <a:cs typeface="Lato"/>
                <a:sym typeface="Lato"/>
              </a:rPr>
              <a:t>Only the Holt Winters and ARIMA models show from their residual analysis that they are properly capturing the structure in the data and meeting our assumptions </a:t>
            </a:r>
            <a:endParaRPr sz="1500">
              <a:solidFill>
                <a:schemeClr val="lt1"/>
              </a:solidFill>
              <a:latin typeface="Lato"/>
              <a:ea typeface="Lato"/>
              <a:cs typeface="Lato"/>
              <a:sym typeface="Lato"/>
            </a:endParaRPr>
          </a:p>
          <a:p>
            <a:pPr indent="-323850" lvl="0" marL="457200" rtl="0" algn="l">
              <a:spcBef>
                <a:spcPts val="0"/>
              </a:spcBef>
              <a:spcAft>
                <a:spcPts val="0"/>
              </a:spcAft>
              <a:buClr>
                <a:schemeClr val="lt1"/>
              </a:buClr>
              <a:buSzPts val="1500"/>
              <a:buFont typeface="Lato"/>
              <a:buChar char="-"/>
            </a:pPr>
            <a:r>
              <a:rPr lang="en" sz="1500">
                <a:solidFill>
                  <a:schemeClr val="lt1"/>
                </a:solidFill>
                <a:latin typeface="Lato"/>
                <a:ea typeface="Lato"/>
                <a:cs typeface="Lato"/>
                <a:sym typeface="Lato"/>
              </a:rPr>
              <a:t>Our Chosen metrics were MAE and RMSE . HW has higher MAE then ARIMA by 0.0019 but HW has lower RMSE then ARIMA by 0.0829, on the test set. </a:t>
            </a:r>
            <a:endParaRPr sz="1500">
              <a:solidFill>
                <a:schemeClr val="lt1"/>
              </a:solidFill>
              <a:latin typeface="Lato"/>
              <a:ea typeface="Lato"/>
              <a:cs typeface="Lato"/>
              <a:sym typeface="Lato"/>
            </a:endParaRPr>
          </a:p>
          <a:p>
            <a:pPr indent="-323850" lvl="0" marL="457200" rtl="0" algn="l">
              <a:spcBef>
                <a:spcPts val="0"/>
              </a:spcBef>
              <a:spcAft>
                <a:spcPts val="0"/>
              </a:spcAft>
              <a:buClr>
                <a:schemeClr val="lt1"/>
              </a:buClr>
              <a:buSzPts val="1500"/>
              <a:buFont typeface="Lato"/>
              <a:buChar char="-"/>
            </a:pPr>
            <a:r>
              <a:rPr lang="en" sz="1500">
                <a:solidFill>
                  <a:schemeClr val="lt1"/>
                </a:solidFill>
                <a:latin typeface="Lato"/>
                <a:ea typeface="Lato"/>
                <a:cs typeface="Lato"/>
                <a:sym typeface="Lato"/>
              </a:rPr>
              <a:t>Given HW only is </a:t>
            </a:r>
            <a:r>
              <a:rPr lang="en" sz="1500">
                <a:solidFill>
                  <a:schemeClr val="lt1"/>
                </a:solidFill>
                <a:latin typeface="Lato"/>
                <a:ea typeface="Lato"/>
                <a:cs typeface="Lato"/>
                <a:sym typeface="Lato"/>
              </a:rPr>
              <a:t>slightly</a:t>
            </a:r>
            <a:r>
              <a:rPr lang="en" sz="1500">
                <a:solidFill>
                  <a:schemeClr val="lt1"/>
                </a:solidFill>
                <a:latin typeface="Lato"/>
                <a:ea typeface="Lato"/>
                <a:cs typeface="Lato"/>
                <a:sym typeface="Lato"/>
              </a:rPr>
              <a:t> worse in MAE but ARIMA has a </a:t>
            </a:r>
            <a:r>
              <a:rPr lang="en" sz="1500">
                <a:solidFill>
                  <a:schemeClr val="lt1"/>
                </a:solidFill>
                <a:latin typeface="Lato"/>
                <a:ea typeface="Lato"/>
                <a:cs typeface="Lato"/>
                <a:sym typeface="Lato"/>
              </a:rPr>
              <a:t>noticeable</a:t>
            </a:r>
            <a:r>
              <a:rPr lang="en" sz="1500">
                <a:solidFill>
                  <a:schemeClr val="lt1"/>
                </a:solidFill>
                <a:latin typeface="Lato"/>
                <a:ea typeface="Lato"/>
                <a:cs typeface="Lato"/>
                <a:sym typeface="Lato"/>
              </a:rPr>
              <a:t> drop in RMSE , I will choose Holt Winters as my final model </a:t>
            </a:r>
            <a:endParaRPr sz="1500">
              <a:solidFill>
                <a:schemeClr val="lt1"/>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4"/>
          <p:cNvSpPr txBox="1"/>
          <p:nvPr>
            <p:ph type="title"/>
          </p:nvPr>
        </p:nvSpPr>
        <p:spPr>
          <a:xfrm>
            <a:off x="1297500" y="107400"/>
            <a:ext cx="7038900" cy="55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Forecast and Conclusion</a:t>
            </a:r>
            <a:endParaRPr/>
          </a:p>
        </p:txBody>
      </p:sp>
      <p:pic>
        <p:nvPicPr>
          <p:cNvPr id="302" name="Google Shape;302;p34"/>
          <p:cNvPicPr preferRelativeResize="0"/>
          <p:nvPr/>
        </p:nvPicPr>
        <p:blipFill>
          <a:blip r:embed="rId3">
            <a:alphaModFix/>
          </a:blip>
          <a:stretch>
            <a:fillRect/>
          </a:stretch>
        </p:blipFill>
        <p:spPr>
          <a:xfrm>
            <a:off x="40750" y="2081425"/>
            <a:ext cx="5025474" cy="3062074"/>
          </a:xfrm>
          <a:prstGeom prst="rect">
            <a:avLst/>
          </a:prstGeom>
          <a:noFill/>
          <a:ln>
            <a:noFill/>
          </a:ln>
        </p:spPr>
      </p:pic>
      <p:pic>
        <p:nvPicPr>
          <p:cNvPr id="303" name="Google Shape;303;p34"/>
          <p:cNvPicPr preferRelativeResize="0"/>
          <p:nvPr/>
        </p:nvPicPr>
        <p:blipFill>
          <a:blip r:embed="rId4">
            <a:alphaModFix/>
          </a:blip>
          <a:stretch>
            <a:fillRect/>
          </a:stretch>
        </p:blipFill>
        <p:spPr>
          <a:xfrm>
            <a:off x="5066225" y="2760100"/>
            <a:ext cx="3180525" cy="2383401"/>
          </a:xfrm>
          <a:prstGeom prst="rect">
            <a:avLst/>
          </a:prstGeom>
          <a:noFill/>
          <a:ln>
            <a:noFill/>
          </a:ln>
        </p:spPr>
      </p:pic>
      <p:sp>
        <p:nvSpPr>
          <p:cNvPr id="304" name="Google Shape;304;p34"/>
          <p:cNvSpPr txBox="1"/>
          <p:nvPr/>
        </p:nvSpPr>
        <p:spPr>
          <a:xfrm>
            <a:off x="1297500" y="517650"/>
            <a:ext cx="7401300" cy="143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lt1"/>
                </a:solidFill>
                <a:latin typeface="Montserrat"/>
                <a:ea typeface="Montserrat"/>
                <a:cs typeface="Montserrat"/>
                <a:sym typeface="Montserrat"/>
              </a:rPr>
              <a:t>I</a:t>
            </a:r>
            <a:r>
              <a:rPr lang="en" sz="1800">
                <a:solidFill>
                  <a:schemeClr val="lt1"/>
                </a:solidFill>
                <a:latin typeface="Montserrat"/>
                <a:ea typeface="Montserrat"/>
                <a:cs typeface="Montserrat"/>
                <a:sym typeface="Montserrat"/>
              </a:rPr>
              <a:t>mplication : We are now able to predict global monthly temperatures with rmse of 1.5 and mae of 0.71 fahrenheit . We can now forecast into the future knowing our forecasts will be accurate and we can use the trained Holt Winter Model to prepare for rising global temperatures</a:t>
            </a:r>
            <a:endParaRPr sz="700">
              <a:solidFill>
                <a:schemeClr val="lt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Future Steps </a:t>
            </a:r>
            <a:endParaRPr/>
          </a:p>
        </p:txBody>
      </p:sp>
      <p:sp>
        <p:nvSpPr>
          <p:cNvPr id="310" name="Google Shape;310;p35"/>
          <p:cNvSpPr txBox="1"/>
          <p:nvPr>
            <p:ph idx="1" type="body"/>
          </p:nvPr>
        </p:nvSpPr>
        <p:spPr>
          <a:xfrm>
            <a:off x="1297500" y="1000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Create </a:t>
            </a:r>
            <a:r>
              <a:rPr lang="en"/>
              <a:t>ensemble</a:t>
            </a:r>
            <a:r>
              <a:rPr lang="en"/>
              <a:t> model between Holt Winters and ARIMA . Where each models prediction is multiplied by a weight , this weight between Holt Winters and ARIMA should add to one . We can use grid search or random search with k fold cross validation on our training set to find the optimal weight values for the Holt Winter and ARIMA model .  </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Try more complex and recent time series models (Prophet by META , Neural Network Autogression to allow for non linear relationships , LSTM )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